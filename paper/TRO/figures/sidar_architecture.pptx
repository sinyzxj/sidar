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f03e44ada44a9" /><Relationship Type="http://schemas.openxmlformats.org/officeDocument/2006/relationships/extended-properties" Target="/docProps/app.xml" Id="Ra96814a2fede4898" /><Relationship Type="http://schemas.openxmlformats.org/officeDocument/2006/relationships/officeDocument" Target="/ppt/presentation.xml" Id="R75f60414628246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fcebd5ae414d94"/>
  </p:sldMasterIdLst>
  <p:notesMasterIdLst>
    <p:notesMasterId xmlns:r="http://schemas.openxmlformats.org/officeDocument/2006/relationships" r:id="Rc873d3a4766547ef"/>
  </p:notesMasterIdLst>
  <p:sldIdLst>
    <p:sldId xmlns:r="http://schemas.openxmlformats.org/officeDocument/2006/relationships" id="256" r:id="R0c5a391b496d4988"/>
  </p:sldIdLst>
  <p:sldSz cx="23812500" cy="9525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cebd5ae414d94" /><Relationship Type="http://schemas.openxmlformats.org/officeDocument/2006/relationships/theme" Target="/ppt/theme/theme1.xml" Id="R357767128819477a" /><Relationship Type="http://schemas.openxmlformats.org/officeDocument/2006/relationships/notesMaster" Target="/ppt/notesMasters/notesMaster1.xml" Id="Rc873d3a4766547ef" /><Relationship Type="http://schemas.openxmlformats.org/officeDocument/2006/relationships/presProps" Target="/ppt/presProps.xml" Id="Rd7d44ca82069412a" /><Relationship Type="http://schemas.openxmlformats.org/officeDocument/2006/relationships/viewProps" Target="/ppt/viewProps.xml" Id="Rd15319ebf3a04eb1" /><Relationship Type="http://schemas.openxmlformats.org/officeDocument/2006/relationships/tableStyles" Target="/ppt/tableStyles.xml" Id="R4749bcfcf6424344" /><Relationship Type="http://schemas.openxmlformats.org/officeDocument/2006/relationships/slide" Target="/ppt/slides/slide1.xml" Id="R0c5a391b496d49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af92113babe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3dccdd72a2438f" /><Relationship Type="http://schemas.openxmlformats.org/officeDocument/2006/relationships/notesMaster" Target="/ppt/notesMasters/notesMaster1.xml" Id="R6a23f60357244a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e6a2b6039240a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41992115ef41a2" /><Relationship Type="http://schemas.openxmlformats.org/officeDocument/2006/relationships/slideLayout" Target="/ppt/slideLayouts/slideLayout2.xml" Id="Rdf82fdba335b46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2fdba335b46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b4d320aa374fd2" /><Relationship Type="http://schemas.openxmlformats.org/officeDocument/2006/relationships/notesSlide" Target="/ppt/notesSlides/notesSlide1.xml" Id="Ra710664f842e43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612A4BA-A7BB-4ABB-AC51-4EE89C11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00" cy="952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3BA3420D-0518-4E2C-B225-6342E865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8600"/>
            <a:ext cx="22669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SIDAR: Open Indoor Scene Data Acquisition and Format Pipeline</a:t>
            </a:r>
          </a:p>
        </p:txBody>
      </p:sp>
      <p:sp>
        <p:nvSpPr>
          <p:cNvPr id="3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0E25799E-E0E7-4277-89A9-E18CE3AB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42950"/>
            <a:ext cx="2124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 generic mobile-to-robotics toolchain for synchronized RGB-D capture, phone-side annotation, open scene packaging, validation, rendering, and ROS2 export.</a:t>
            </a:r>
          </a:p>
        </p:txBody>
      </p:sp>
      <p:sp>
        <p:nvSpPr>
          <p:cNvPr id="4" name="panel-capture">
            <a:extLst xmlns:a="http://schemas.openxmlformats.org/drawingml/2006/main">
              <a:ext uri="{FF2B5EF4-FFF2-40B4-BE49-F238E27FC236}">
                <a16:creationId xmlns:a16="http://schemas.microsoft.com/office/drawing/2014/main" id="{56C7B1EB-5472-482F-90C9-3ED4691E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5476875" cy="7477125"/>
          </a:xfrm>
          <a:prstGeom xmlns:a="http://schemas.openxmlformats.org/drawingml/2006/main" prst="roundRect">
            <a:avLst>
              <a:gd name="adj" fmla="val 1391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4288">
            <a:solidFill>
              <a:srgbClr val="2F6FAF"/>
            </a:solidFill>
            <a:prstDash val="solid"/>
          </a:ln>
        </p:spPr>
      </p:sp>
      <p:sp>
        <p:nvSpPr>
          <p:cNvPr id="5" name="panel-capture-title">
            <a:extLst xmlns:a="http://schemas.openxmlformats.org/drawingml/2006/main">
              <a:ext uri="{FF2B5EF4-FFF2-40B4-BE49-F238E27FC236}">
                <a16:creationId xmlns:a16="http://schemas.microsoft.com/office/drawing/2014/main" id="{A4ABD3AC-ACD0-4568-9724-D0CB569A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6FA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6FAF"/>
                </a:solidFill>
                <a:latin typeface="Arial"/>
                <a:ea typeface="Arial"/>
                <a:cs typeface="Arial"/>
              </a:rPr>
              <a:t>On-device Capture App</a:t>
            </a:r>
          </a:p>
        </p:txBody>
      </p:sp>
      <p:sp>
        <p:nvSpPr>
          <p:cNvPr id="6" name="panel-capture-note">
            <a:extLst xmlns:a="http://schemas.openxmlformats.org/drawingml/2006/main">
              <a:ext uri="{FF2B5EF4-FFF2-40B4-BE49-F238E27FC236}">
                <a16:creationId xmlns:a16="http://schemas.microsoft.com/office/drawing/2014/main" id="{A24D05F5-342F-4D9C-A74D-04EB346D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62150"/>
            <a:ext cx="5019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iPhone ARKit/LiDAR app shown to users as SIDAR</a:t>
            </a:r>
          </a:p>
        </p:txBody>
      </p:sp>
      <p:sp>
        <p:nvSpPr>
          <p:cNvPr id="7" name="panel-package">
            <a:extLst xmlns:a="http://schemas.openxmlformats.org/drawingml/2006/main">
              <a:ext uri="{FF2B5EF4-FFF2-40B4-BE49-F238E27FC236}">
                <a16:creationId xmlns:a16="http://schemas.microsoft.com/office/drawing/2014/main" id="{9AA9B015-70A6-4D39-A324-C4EDCF8C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5476875" cy="7477125"/>
          </a:xfrm>
          <a:prstGeom xmlns:a="http://schemas.openxmlformats.org/drawingml/2006/main" prst="roundRect">
            <a:avLst>
              <a:gd name="adj" fmla="val 1391"/>
            </a:avLst>
          </a:prstGeom>
          <a:solidFill xmlns:a="http://schemas.openxmlformats.org/drawingml/2006/main">
            <a:srgbClr val="FFFAF4"/>
          </a:solidFill>
          <a:ln xmlns:a="http://schemas.openxmlformats.org/drawingml/2006/main" w="14288">
            <a:solidFill>
              <a:srgbClr val="C6761D"/>
            </a:solidFill>
            <a:prstDash val="solid"/>
          </a:ln>
        </p:spPr>
      </p:sp>
      <p:sp>
        <p:nvSpPr>
          <p:cNvPr id="8" name="panel-package-title">
            <a:extLst xmlns:a="http://schemas.openxmlformats.org/drawingml/2006/main">
              <a:ext uri="{FF2B5EF4-FFF2-40B4-BE49-F238E27FC236}">
                <a16:creationId xmlns:a16="http://schemas.microsoft.com/office/drawing/2014/main" id="{11E171E0-3BA4-4A99-B61A-87303460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676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761D"/>
                </a:solidFill>
                <a:latin typeface="Arial"/>
                <a:ea typeface="Arial"/>
                <a:cs typeface="Arial"/>
              </a:rPr>
              <a:t>Open Scene Package</a:t>
            </a:r>
          </a:p>
        </p:txBody>
      </p:sp>
      <p:sp>
        <p:nvSpPr>
          <p:cNvPr id="9" name="panel-package-note">
            <a:extLst xmlns:a="http://schemas.openxmlformats.org/drawingml/2006/main">
              <a:ext uri="{FF2B5EF4-FFF2-40B4-BE49-F238E27FC236}">
                <a16:creationId xmlns:a16="http://schemas.microsoft.com/office/drawing/2014/main" id="{2823C4F6-DCAD-471F-97F1-FC6A7FDD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62150"/>
            <a:ext cx="5019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Inspectable directory format with documented files</a:t>
            </a:r>
          </a:p>
        </p:txBody>
      </p:sp>
      <p:sp>
        <p:nvSpPr>
          <p:cNvPr id="10" name="panel-tools">
            <a:extLst xmlns:a="http://schemas.openxmlformats.org/drawingml/2006/main">
              <a:ext uri="{FF2B5EF4-FFF2-40B4-BE49-F238E27FC236}">
                <a16:creationId xmlns:a16="http://schemas.microsoft.com/office/drawing/2014/main" id="{840F642E-2F84-4406-8C7E-69526BEA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504950"/>
            <a:ext cx="5476875" cy="7477125"/>
          </a:xfrm>
          <a:prstGeom xmlns:a="http://schemas.openxmlformats.org/drawingml/2006/main" prst="roundRect">
            <a:avLst>
              <a:gd name="adj" fmla="val 1391"/>
            </a:avLst>
          </a:prstGeom>
          <a:solidFill xmlns:a="http://schemas.openxmlformats.org/drawingml/2006/main">
            <a:srgbClr val="F6FBF7"/>
          </a:solidFill>
          <a:ln xmlns:a="http://schemas.openxmlformats.org/drawingml/2006/main" w="14288">
            <a:solidFill>
              <a:srgbClr val="2F7F4F"/>
            </a:solidFill>
            <a:prstDash val="solid"/>
          </a:ln>
        </p:spPr>
      </p:sp>
      <p:sp>
        <p:nvSpPr>
          <p:cNvPr id="11" name="panel-tools-title">
            <a:extLst xmlns:a="http://schemas.openxmlformats.org/drawingml/2006/main">
              <a:ext uri="{FF2B5EF4-FFF2-40B4-BE49-F238E27FC236}">
                <a16:creationId xmlns:a16="http://schemas.microsoft.com/office/drawing/2014/main" id="{5C349677-5DAF-4E4C-BF36-AC567B67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1638300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F7F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F4F"/>
                </a:solidFill>
                <a:latin typeface="Arial"/>
                <a:ea typeface="Arial"/>
                <a:cs typeface="Arial"/>
              </a:rPr>
              <a:t>Workstation Processing Tools</a:t>
            </a:r>
          </a:p>
        </p:txBody>
      </p:sp>
      <p:sp>
        <p:nvSpPr>
          <p:cNvPr id="12" name="panel-tools-note">
            <a:extLst xmlns:a="http://schemas.openxmlformats.org/drawingml/2006/main">
              <a:ext uri="{FF2B5EF4-FFF2-40B4-BE49-F238E27FC236}">
                <a16:creationId xmlns:a16="http://schemas.microsoft.com/office/drawing/2014/main" id="{C3063D58-1056-4086-B841-4C110F5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1962150"/>
            <a:ext cx="5019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Command-line modules for validation, conversion, rendering, and export</a:t>
            </a:r>
          </a:p>
        </p:txBody>
      </p:sp>
      <p:sp>
        <p:nvSpPr>
          <p:cNvPr id="13" name="panel-outputs">
            <a:extLst xmlns:a="http://schemas.openxmlformats.org/drawingml/2006/main">
              <a:ext uri="{FF2B5EF4-FFF2-40B4-BE49-F238E27FC236}">
                <a16:creationId xmlns:a16="http://schemas.microsoft.com/office/drawing/2014/main" id="{A289A323-42D8-4116-BD6D-BE419E5B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1504950"/>
            <a:ext cx="5476875" cy="7477125"/>
          </a:xfrm>
          <a:prstGeom xmlns:a="http://schemas.openxmlformats.org/drawingml/2006/main" prst="roundRect">
            <a:avLst>
              <a:gd name="adj" fmla="val 1391"/>
            </a:avLst>
          </a:prstGeom>
          <a:solidFill xmlns:a="http://schemas.openxmlformats.org/drawingml/2006/main">
            <a:srgbClr val="FFF8F7"/>
          </a:solidFill>
          <a:ln xmlns:a="http://schemas.openxmlformats.org/drawingml/2006/main" w="14288">
            <a:solidFill>
              <a:srgbClr val="BF4B43"/>
            </a:solidFill>
            <a:prstDash val="solid"/>
          </a:ln>
        </p:spPr>
      </p:sp>
      <p:sp>
        <p:nvSpPr>
          <p:cNvPr id="14" name="panel-outputs-title">
            <a:extLst xmlns:a="http://schemas.openxmlformats.org/drawingml/2006/main">
              <a:ext uri="{FF2B5EF4-FFF2-40B4-BE49-F238E27FC236}">
                <a16:creationId xmlns:a16="http://schemas.microsoft.com/office/drawing/2014/main" id="{C0B83A02-5007-4FAE-8E9C-655B5CE6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638300"/>
            <a:ext cx="5095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F4B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F4B43"/>
                </a:solidFill>
                <a:latin typeface="Arial"/>
                <a:ea typeface="Arial"/>
                <a:cs typeface="Arial"/>
              </a:rPr>
              <a:t>Standard Outputs</a:t>
            </a:r>
          </a:p>
        </p:txBody>
      </p:sp>
      <p:sp>
        <p:nvSpPr>
          <p:cNvPr id="15" name="panel-outputs-note">
            <a:extLst xmlns:a="http://schemas.openxmlformats.org/drawingml/2006/main">
              <a:ext uri="{FF2B5EF4-FFF2-40B4-BE49-F238E27FC236}">
                <a16:creationId xmlns:a16="http://schemas.microsoft.com/office/drawing/2014/main" id="{D20DFC9D-D563-4D6C-811F-18100C1C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0350" y="1962150"/>
            <a:ext cx="5019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Reusable scene assets and robot-data products</a:t>
            </a:r>
          </a:p>
        </p:txBody>
      </p:sp>
      <p:sp>
        <p:nvSpPr>
          <p:cNvPr id="16" name="main-flow-1-pt-1">
            <a:extLst xmlns:a="http://schemas.openxmlformats.org/drawingml/2006/main">
              <a:ext uri="{FF2B5EF4-FFF2-40B4-BE49-F238E27FC236}">
                <a16:creationId xmlns:a16="http://schemas.microsoft.com/office/drawing/2014/main" id="{515E844F-D3C9-4AD9-9520-A82BC58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main-flow-1-pt-2">
            <a:extLst xmlns:a="http://schemas.openxmlformats.org/drawingml/2006/main">
              <a:ext uri="{FF2B5EF4-FFF2-40B4-BE49-F238E27FC236}">
                <a16:creationId xmlns:a16="http://schemas.microsoft.com/office/drawing/2014/main" id="{B71EE2AA-7EE9-4BCF-A4FE-57BB7431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8" name="main-flow-1-seg-1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953125" y="5257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6B7280"/>
            </a:solidFill>
            <a:prstDash val="solid"/>
            <a:headEnd type="none" w="med" len="med"/>
          </a:ln>
        </p:spPr>
      </p:cxnSp>
      <p:sp>
        <p:nvSpPr>
          <p:cNvPr id="19" name="main-flow-1-head">
            <a:extLst xmlns:a="http://schemas.openxmlformats.org/drawingml/2006/main">
              <a:ext uri="{FF2B5EF4-FFF2-40B4-BE49-F238E27FC236}">
                <a16:creationId xmlns:a16="http://schemas.microsoft.com/office/drawing/2014/main" id="{0657F99A-FE24-4A02-A66D-EDBEB6E8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324600" y="5219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0" name="main-flow-2-pt-1">
            <a:extLst xmlns:a="http://schemas.openxmlformats.org/drawingml/2006/main">
              <a:ext uri="{FF2B5EF4-FFF2-40B4-BE49-F238E27FC236}">
                <a16:creationId xmlns:a16="http://schemas.microsoft.com/office/drawing/2014/main" id="{4E84A493-DF08-4F2E-ACAD-266FDD12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main-flow-2-pt-2">
            <a:extLst xmlns:a="http://schemas.openxmlformats.org/drawingml/2006/main">
              <a:ext uri="{FF2B5EF4-FFF2-40B4-BE49-F238E27FC236}">
                <a16:creationId xmlns:a16="http://schemas.microsoft.com/office/drawing/2014/main" id="{9C94CECB-8409-4D8C-9390-A0BDC301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22" name="main-flow-2-seg-1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1715750" y="5257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6B7280"/>
            </a:solidFill>
            <a:prstDash val="solid"/>
            <a:headEnd type="none" w="med" len="med"/>
          </a:ln>
        </p:spPr>
      </p:cxnSp>
      <p:sp>
        <p:nvSpPr>
          <p:cNvPr id="23" name="main-flow-2-head">
            <a:extLst xmlns:a="http://schemas.openxmlformats.org/drawingml/2006/main">
              <a:ext uri="{FF2B5EF4-FFF2-40B4-BE49-F238E27FC236}">
                <a16:creationId xmlns:a16="http://schemas.microsoft.com/office/drawing/2014/main" id="{B48E3A39-B6E4-423D-A6E4-DAAF4BB0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087225" y="5219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4" name="main-flow-3-pt-1">
            <a:extLst xmlns:a="http://schemas.openxmlformats.org/drawingml/2006/main">
              <a:ext uri="{FF2B5EF4-FFF2-40B4-BE49-F238E27FC236}">
                <a16:creationId xmlns:a16="http://schemas.microsoft.com/office/drawing/2014/main" id="{3C205787-B5C4-4364-BEC3-9C3A8348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1225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main-flow-3-pt-2">
            <a:extLst xmlns:a="http://schemas.openxmlformats.org/drawingml/2006/main">
              <a:ext uri="{FF2B5EF4-FFF2-40B4-BE49-F238E27FC236}">
                <a16:creationId xmlns:a16="http://schemas.microsoft.com/office/drawing/2014/main" id="{36F5AAA5-5FC9-4901-A83E-1E1C69C9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9375" y="5229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26" name="main-flow-3-seg-1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7478375" y="52578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6B7280"/>
            </a:solidFill>
            <a:prstDash val="solid"/>
            <a:headEnd type="none" w="med" len="med"/>
          </a:ln>
        </p:spPr>
      </p:cxnSp>
      <p:sp>
        <p:nvSpPr>
          <p:cNvPr id="27" name="main-flow-3-head">
            <a:extLst xmlns:a="http://schemas.openxmlformats.org/drawingml/2006/main">
              <a:ext uri="{FF2B5EF4-FFF2-40B4-BE49-F238E27FC236}">
                <a16:creationId xmlns:a16="http://schemas.microsoft.com/office/drawing/2014/main" id="{6B519DC8-436E-41DA-A293-C7E78AD1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7849850" y="5219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</p:sp>
      <p:sp>
        <p:nvSpPr>
          <p:cNvPr id="28" name="capture-recorded-streams">
            <a:extLst xmlns:a="http://schemas.openxmlformats.org/drawingml/2006/main">
              <a:ext uri="{FF2B5EF4-FFF2-40B4-BE49-F238E27FC236}">
                <a16:creationId xmlns:a16="http://schemas.microsoft.com/office/drawing/2014/main" id="{3503AE21-3615-41D4-8FAE-EFF46846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2438400" cy="63817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AF"/>
            </a:solidFill>
            <a:prstDash val="solid"/>
          </a:ln>
        </p:spPr>
      </p:sp>
      <p:sp>
        <p:nvSpPr>
          <p:cNvPr id="29" name="capture-recorded-streams-title">
            <a:extLst xmlns:a="http://schemas.openxmlformats.org/drawingml/2006/main">
              <a:ext uri="{FF2B5EF4-FFF2-40B4-BE49-F238E27FC236}">
                <a16:creationId xmlns:a16="http://schemas.microsoft.com/office/drawing/2014/main" id="{6C096B37-183E-479F-9FD1-30A2647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193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F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AF"/>
                </a:solidFill>
                <a:latin typeface="Arial"/>
                <a:ea typeface="Arial"/>
                <a:cs typeface="Arial"/>
              </a:rPr>
              <a:t>Recorded Streams</a:t>
            </a:r>
          </a:p>
        </p:txBody>
      </p:sp>
      <p:sp>
        <p:nvSpPr>
          <p:cNvPr id="30" name="capture-phone-functions">
            <a:extLst xmlns:a="http://schemas.openxmlformats.org/drawingml/2006/main">
              <a:ext uri="{FF2B5EF4-FFF2-40B4-BE49-F238E27FC236}">
                <a16:creationId xmlns:a16="http://schemas.microsoft.com/office/drawing/2014/main" id="{11FDA514-8B68-4C60-B290-EE2A1C06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24100"/>
            <a:ext cx="2438400" cy="638175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AF"/>
            </a:solidFill>
            <a:prstDash val="solid"/>
          </a:ln>
        </p:spPr>
      </p:sp>
      <p:sp>
        <p:nvSpPr>
          <p:cNvPr id="31" name="capture-phone-functions-title">
            <a:extLst xmlns:a="http://schemas.openxmlformats.org/drawingml/2006/main">
              <a:ext uri="{FF2B5EF4-FFF2-40B4-BE49-F238E27FC236}">
                <a16:creationId xmlns:a16="http://schemas.microsoft.com/office/drawing/2014/main" id="{DFAE53E7-2EED-4BA2-BD48-AE03F741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193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F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AF"/>
                </a:solidFill>
                <a:latin typeface="Arial"/>
                <a:ea typeface="Arial"/>
                <a:cs typeface="Arial"/>
              </a:rPr>
              <a:t>Phone-side Functions</a:t>
            </a:r>
          </a:p>
        </p:txBody>
      </p:sp>
      <p:sp>
        <p:nvSpPr>
          <p:cNvPr id="32" name="stream-arkit-box">
            <a:extLst xmlns:a="http://schemas.openxmlformats.org/drawingml/2006/main">
              <a:ext uri="{FF2B5EF4-FFF2-40B4-BE49-F238E27FC236}">
                <a16:creationId xmlns:a16="http://schemas.microsoft.com/office/drawing/2014/main" id="{9B4FFA09-9CF2-4BE6-9EF0-781A47D9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00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33" name="stream-arkit-title">
            <a:extLst xmlns:a="http://schemas.openxmlformats.org/drawingml/2006/main">
              <a:ext uri="{FF2B5EF4-FFF2-40B4-BE49-F238E27FC236}">
                <a16:creationId xmlns:a16="http://schemas.microsoft.com/office/drawing/2014/main" id="{E746DD91-EE76-45D7-939B-E4259D66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09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9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ARKit / LiDAR Session</a:t>
            </a:r>
          </a:p>
        </p:txBody>
      </p:sp>
      <p:sp>
        <p:nvSpPr>
          <p:cNvPr id="34" name="stream-arkit-body">
            <a:extLst xmlns:a="http://schemas.openxmlformats.org/drawingml/2006/main">
              <a:ext uri="{FF2B5EF4-FFF2-40B4-BE49-F238E27FC236}">
                <a16:creationId xmlns:a16="http://schemas.microsoft.com/office/drawing/2014/main" id="{37C9A068-E1A2-45F1-B204-FD18102A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623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7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7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tracking + depth</a:t>
            </a:r>
          </a:p>
        </p:txBody>
      </p:sp>
      <p:sp>
        <p:nvSpPr>
          <p:cNvPr id="35" name="stream-rgb-box">
            <a:extLst xmlns:a="http://schemas.openxmlformats.org/drawingml/2006/main">
              <a:ext uri="{FF2B5EF4-FFF2-40B4-BE49-F238E27FC236}">
                <a16:creationId xmlns:a16="http://schemas.microsoft.com/office/drawing/2014/main" id="{1F10F8A7-FF56-4A02-87CA-33E89F3F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952750"/>
            <a:ext cx="100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36" name="stream-rgb-title">
            <a:extLst xmlns:a="http://schemas.openxmlformats.org/drawingml/2006/main">
              <a:ext uri="{FF2B5EF4-FFF2-40B4-BE49-F238E27FC236}">
                <a16:creationId xmlns:a16="http://schemas.microsoft.com/office/drawing/2014/main" id="{DED6CFD9-94FF-4923-A2DE-4DD030E4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0289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148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RGB Recorder</a:t>
            </a:r>
          </a:p>
        </p:txBody>
      </p:sp>
      <p:sp>
        <p:nvSpPr>
          <p:cNvPr id="37" name="stream-rgb-body">
            <a:extLst xmlns:a="http://schemas.openxmlformats.org/drawingml/2006/main">
              <a:ext uri="{FF2B5EF4-FFF2-40B4-BE49-F238E27FC236}">
                <a16:creationId xmlns:a16="http://schemas.microsoft.com/office/drawing/2014/main" id="{619A443A-9D89-47B1-9783-E2498A35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62325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78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78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capturedImage</a:t>
            </a:r>
          </a:p>
        </p:txBody>
      </p:sp>
      <p:sp>
        <p:nvSpPr>
          <p:cNvPr id="38" name="stream-depth-box">
            <a:extLst xmlns:a="http://schemas.openxmlformats.org/drawingml/2006/main">
              <a:ext uri="{FF2B5EF4-FFF2-40B4-BE49-F238E27FC236}">
                <a16:creationId xmlns:a16="http://schemas.microsoft.com/office/drawing/2014/main" id="{ADF5C664-481B-43D3-A182-3BCB9606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100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39" name="stream-depth-title">
            <a:extLst xmlns:a="http://schemas.openxmlformats.org/drawingml/2006/main">
              <a:ext uri="{FF2B5EF4-FFF2-40B4-BE49-F238E27FC236}">
                <a16:creationId xmlns:a16="http://schemas.microsoft.com/office/drawing/2014/main" id="{CDAF4383-B623-45D4-939D-2FEA0FB8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Depth and Confidence</a:t>
            </a:r>
          </a:p>
        </p:txBody>
      </p:sp>
      <p:sp>
        <p:nvSpPr>
          <p:cNvPr id="40" name="stream-depth-body">
            <a:extLst xmlns:a="http://schemas.openxmlformats.org/drawingml/2006/main">
              <a:ext uri="{FF2B5EF4-FFF2-40B4-BE49-F238E27FC236}">
                <a16:creationId xmlns:a16="http://schemas.microsoft.com/office/drawing/2014/main" id="{6D2AE663-8052-4ADC-98B2-F891122F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815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5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meters and quality</a:t>
            </a:r>
          </a:p>
        </p:txBody>
      </p:sp>
      <p:sp>
        <p:nvSpPr>
          <p:cNvPr id="41" name="stream-pose-box">
            <a:extLst xmlns:a="http://schemas.openxmlformats.org/drawingml/2006/main">
              <a:ext uri="{FF2B5EF4-FFF2-40B4-BE49-F238E27FC236}">
                <a16:creationId xmlns:a16="http://schemas.microsoft.com/office/drawing/2014/main" id="{4FF4EEDD-16A0-4869-9B50-55E8DA3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71925"/>
            <a:ext cx="100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42" name="stream-pose-title">
            <a:extLst xmlns:a="http://schemas.openxmlformats.org/drawingml/2006/main">
              <a:ext uri="{FF2B5EF4-FFF2-40B4-BE49-F238E27FC236}">
                <a16:creationId xmlns:a16="http://schemas.microsoft.com/office/drawing/2014/main" id="{739CFECD-5CD0-43D1-993A-7C1359A1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48125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08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8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Pose and Intrinsics</a:t>
            </a:r>
          </a:p>
        </p:txBody>
      </p:sp>
      <p:sp>
        <p:nvSpPr>
          <p:cNvPr id="43" name="stream-pose-body">
            <a:extLst xmlns:a="http://schemas.openxmlformats.org/drawingml/2006/main">
              <a:ext uri="{FF2B5EF4-FFF2-40B4-BE49-F238E27FC236}">
                <a16:creationId xmlns:a16="http://schemas.microsoft.com/office/drawing/2014/main" id="{19BE956A-87E0-46BB-BA27-73B5091C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381500"/>
            <a:ext cx="8096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5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timestamps and K</a:t>
            </a:r>
          </a:p>
        </p:txBody>
      </p:sp>
      <p:sp>
        <p:nvSpPr>
          <p:cNvPr id="44" name="stream-mesh-box">
            <a:extLst xmlns:a="http://schemas.openxmlformats.org/drawingml/2006/main">
              <a:ext uri="{FF2B5EF4-FFF2-40B4-BE49-F238E27FC236}">
                <a16:creationId xmlns:a16="http://schemas.microsoft.com/office/drawing/2014/main" id="{BDBD8E67-B64C-44E7-85E8-6998C87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21336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45" name="stream-mesh-title">
            <a:extLst xmlns:a="http://schemas.openxmlformats.org/drawingml/2006/main">
              <a:ext uri="{FF2B5EF4-FFF2-40B4-BE49-F238E27FC236}">
                <a16:creationId xmlns:a16="http://schemas.microsoft.com/office/drawing/2014/main" id="{2DCDB6D2-BF63-4531-B835-92467C5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9812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Optional ARKit Mesh Export</a:t>
            </a:r>
          </a:p>
        </p:txBody>
      </p:sp>
      <p:sp>
        <p:nvSpPr>
          <p:cNvPr id="46" name="stream-mesh-body">
            <a:extLst xmlns:a="http://schemas.openxmlformats.org/drawingml/2006/main">
              <a:ext uri="{FF2B5EF4-FFF2-40B4-BE49-F238E27FC236}">
                <a16:creationId xmlns:a16="http://schemas.microsoft.com/office/drawing/2014/main" id="{087E092C-2467-4F22-84AE-A6B9E6BE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53075"/>
            <a:ext cx="1943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8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world-frame PLY</a:t>
            </a:r>
          </a:p>
        </p:txBody>
      </p:sp>
      <p:cxnSp>
        <p:nvCxnSpPr>
          <p:cNvPr id="47" name="stream-arkit-to-rgb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838325" y="3314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6FAF"/>
            </a:solidFill>
            <a:prstDash val="solid"/>
            <a:headEnd type="none" w="med" len="med"/>
          </a:ln>
        </p:spPr>
      </p:cxnSp>
      <p:cxnSp>
        <p:nvCxnSpPr>
          <p:cNvPr id="48" name="stream-arkit-to-depth"/>
          <p:cNvCxnSpPr>
            <a:stCxn xmlns:a="http://schemas.openxmlformats.org/drawingml/2006/main" id="32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1338263" y="36766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6FAF"/>
            </a:solidFill>
            <a:prstDash val="solid"/>
            <a:headEnd type="none" w="med" len="med"/>
          </a:ln>
        </p:spPr>
      </p:cxnSp>
      <p:cxnSp>
        <p:nvCxnSpPr>
          <p:cNvPr id="49" name="stream-rgb-to-pose"/>
          <p:cNvCxnSpPr>
            <a:stCxn xmlns:a="http://schemas.openxmlformats.org/drawingml/2006/main" id="35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2471738" y="367665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F6FAF"/>
            </a:solidFill>
            <a:prstDash val="solid"/>
            <a:headEnd type="none" w="med" len="med"/>
          </a:ln>
        </p:spPr>
      </p:cxnSp>
      <p:cxnSp>
        <p:nvCxnSpPr>
          <p:cNvPr id="50" name="stream-depth-to-mesh"/>
          <p:cNvCxnSpPr>
            <a:stCxn xmlns:a="http://schemas.openxmlformats.org/drawingml/2006/main" id="38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1338263" y="4695825"/>
            <a:ext cx="566738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F6FAF"/>
            </a:solidFill>
            <a:prstDash val="solid"/>
            <a:headEnd type="none" w="med" len="med"/>
          </a:ln>
        </p:spPr>
      </p:cxnSp>
      <p:cxnSp>
        <p:nvCxnSpPr>
          <p:cNvPr id="51" name="stream-pose-to-mesh"/>
          <p:cNvCxnSpPr>
            <a:stCxn xmlns:a="http://schemas.openxmlformats.org/drawingml/2006/main" id="41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1905000" y="4695825"/>
            <a:ext cx="566738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9525">
            <a:solidFill>
              <a:srgbClr val="2F6FAF"/>
            </a:solidFill>
            <a:prstDash val="solid"/>
            <a:headEnd type="none" w="med" len="med"/>
          </a:ln>
        </p:spPr>
      </p:cxnSp>
      <p:sp>
        <p:nvSpPr>
          <p:cNvPr id="52" name="stream-arkit-to-rgb-head">
            <a:extLst xmlns:a="http://schemas.openxmlformats.org/drawingml/2006/main">
              <a:ext uri="{FF2B5EF4-FFF2-40B4-BE49-F238E27FC236}">
                <a16:creationId xmlns:a16="http://schemas.microsoft.com/office/drawing/2014/main" id="{C20A4AFE-54F7-4B72-B472-AC4E3AC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909763" y="32813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AF"/>
          </a:solidFill>
          <a:ln xmlns:a="http://schemas.openxmlformats.org/drawingml/2006/main" w="0">
            <a:solidFill>
              <a:srgbClr val="2F6FAF"/>
            </a:solidFill>
            <a:prstDash val="solid"/>
          </a:ln>
        </p:spPr>
      </p:sp>
      <p:sp>
        <p:nvSpPr>
          <p:cNvPr id="53" name="stream-arkit-to-depth-head">
            <a:extLst xmlns:a="http://schemas.openxmlformats.org/drawingml/2006/main">
              <a:ext uri="{FF2B5EF4-FFF2-40B4-BE49-F238E27FC236}">
                <a16:creationId xmlns:a16="http://schemas.microsoft.com/office/drawing/2014/main" id="{727E2E20-6514-479F-B477-31701D0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00163" y="39004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AF"/>
          </a:solidFill>
          <a:ln xmlns:a="http://schemas.openxmlformats.org/drawingml/2006/main" w="0">
            <a:solidFill>
              <a:srgbClr val="2F6FAF"/>
            </a:solidFill>
            <a:prstDash val="solid"/>
          </a:ln>
        </p:spPr>
      </p:sp>
      <p:sp>
        <p:nvSpPr>
          <p:cNvPr id="54" name="stream-rgb-to-pose-head">
            <a:extLst xmlns:a="http://schemas.openxmlformats.org/drawingml/2006/main">
              <a:ext uri="{FF2B5EF4-FFF2-40B4-BE49-F238E27FC236}">
                <a16:creationId xmlns:a16="http://schemas.microsoft.com/office/drawing/2014/main" id="{C56707A4-8F98-48AA-ACAD-2857C511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33638" y="3900488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AF"/>
          </a:solidFill>
          <a:ln xmlns:a="http://schemas.openxmlformats.org/drawingml/2006/main" w="0">
            <a:solidFill>
              <a:srgbClr val="2F6FAF"/>
            </a:solidFill>
            <a:prstDash val="solid"/>
          </a:ln>
        </p:spPr>
      </p:sp>
      <p:sp>
        <p:nvSpPr>
          <p:cNvPr id="55" name="stream-depth-to-mesh-head">
            <a:extLst xmlns:a="http://schemas.openxmlformats.org/drawingml/2006/main">
              <a:ext uri="{FF2B5EF4-FFF2-40B4-BE49-F238E27FC236}">
                <a16:creationId xmlns:a16="http://schemas.microsoft.com/office/drawing/2014/main" id="{1C2FA881-FCB3-4101-8695-F364A82E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00163" y="50720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AF"/>
          </a:solidFill>
          <a:ln xmlns:a="http://schemas.openxmlformats.org/drawingml/2006/main" w="0">
            <a:solidFill>
              <a:srgbClr val="2F6FAF"/>
            </a:solidFill>
            <a:prstDash val="solid"/>
          </a:ln>
        </p:spPr>
      </p:sp>
      <p:sp>
        <p:nvSpPr>
          <p:cNvPr id="56" name="stream-pose-to-mesh-head">
            <a:extLst xmlns:a="http://schemas.openxmlformats.org/drawingml/2006/main">
              <a:ext uri="{FF2B5EF4-FFF2-40B4-BE49-F238E27FC236}">
                <a16:creationId xmlns:a16="http://schemas.microsoft.com/office/drawing/2014/main" id="{C27369F2-2DEC-4F9F-A99F-6AE1447A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33638" y="5072063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AF"/>
          </a:solidFill>
          <a:ln xmlns:a="http://schemas.openxmlformats.org/drawingml/2006/main" w="0">
            <a:solidFill>
              <a:srgbClr val="2F6FAF"/>
            </a:solidFill>
            <a:prstDash val="solid"/>
          </a:ln>
        </p:spPr>
      </p:sp>
      <p:sp>
        <p:nvSpPr>
          <p:cNvPr id="57" name="phone-gallery-box">
            <a:extLst xmlns:a="http://schemas.openxmlformats.org/drawingml/2006/main">
              <a:ext uri="{FF2B5EF4-FFF2-40B4-BE49-F238E27FC236}">
                <a16:creationId xmlns:a16="http://schemas.microsoft.com/office/drawing/2014/main" id="{82676B84-27B5-4073-865F-F15BE378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000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58" name="phone-gallery-title">
            <a:extLst xmlns:a="http://schemas.openxmlformats.org/drawingml/2006/main">
              <a:ext uri="{FF2B5EF4-FFF2-40B4-BE49-F238E27FC236}">
                <a16:creationId xmlns:a16="http://schemas.microsoft.com/office/drawing/2014/main" id="{C30E82B9-61A0-4682-A624-30D0B766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28950"/>
            <a:ext cx="847725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11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1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Scene Gallery</a:t>
            </a:r>
          </a:p>
        </p:txBody>
      </p:sp>
      <p:sp>
        <p:nvSpPr>
          <p:cNvPr id="59" name="phone-gallery-body">
            <a:extLst xmlns:a="http://schemas.openxmlformats.org/drawingml/2006/main">
              <a:ext uri="{FF2B5EF4-FFF2-40B4-BE49-F238E27FC236}">
                <a16:creationId xmlns:a16="http://schemas.microsoft.com/office/drawing/2014/main" id="{E76956E6-B256-4EA9-8AF8-CFC1115C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355086"/>
            <a:ext cx="809625" cy="24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browse, rename, delete</a:t>
            </a:r>
          </a:p>
        </p:txBody>
      </p:sp>
      <p:sp>
        <p:nvSpPr>
          <p:cNvPr id="60" name="phone-upload-box">
            <a:extLst xmlns:a="http://schemas.openxmlformats.org/drawingml/2006/main">
              <a:ext uri="{FF2B5EF4-FFF2-40B4-BE49-F238E27FC236}">
                <a16:creationId xmlns:a16="http://schemas.microsoft.com/office/drawing/2014/main" id="{590EE016-7874-4D6D-B39D-C25EE23D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1000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61" name="phone-upload-title">
            <a:extLst xmlns:a="http://schemas.openxmlformats.org/drawingml/2006/main">
              <a:ext uri="{FF2B5EF4-FFF2-40B4-BE49-F238E27FC236}">
                <a16:creationId xmlns:a16="http://schemas.microsoft.com/office/drawing/2014/main" id="{13EFF8F0-B538-444D-985B-F88F382E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28950"/>
            <a:ext cx="847725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62" name="phone-upload-body">
            <a:extLst xmlns:a="http://schemas.openxmlformats.org/drawingml/2006/main">
              <a:ext uri="{FF2B5EF4-FFF2-40B4-BE49-F238E27FC236}">
                <a16:creationId xmlns:a16="http://schemas.microsoft.com/office/drawing/2014/main" id="{A6FF163F-D2AC-4FE3-938C-3C3EDA4D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55086"/>
            <a:ext cx="809625" cy="2453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token and progress</a:t>
            </a:r>
          </a:p>
        </p:txBody>
      </p:sp>
      <p:sp>
        <p:nvSpPr>
          <p:cNvPr id="63" name="phone-annotation-box">
            <a:extLst xmlns:a="http://schemas.openxmlformats.org/drawingml/2006/main">
              <a:ext uri="{FF2B5EF4-FFF2-40B4-BE49-F238E27FC236}">
                <a16:creationId xmlns:a16="http://schemas.microsoft.com/office/drawing/2014/main" id="{ACA81732-532E-4578-91C3-8223B3E0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86200"/>
            <a:ext cx="1000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64" name="phone-annotation-title">
            <a:extLst xmlns:a="http://schemas.openxmlformats.org/drawingml/2006/main">
              <a:ext uri="{FF2B5EF4-FFF2-40B4-BE49-F238E27FC236}">
                <a16:creationId xmlns:a16="http://schemas.microsoft.com/office/drawing/2014/main" id="{2BDAF098-FE17-47F2-A212-0C79A4A9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624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2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Top-down Room Annotation</a:t>
            </a:r>
          </a:p>
        </p:txBody>
      </p:sp>
      <p:sp>
        <p:nvSpPr>
          <p:cNvPr id="65" name="phone-annotation-body">
            <a:extLst xmlns:a="http://schemas.openxmlformats.org/drawingml/2006/main">
              <a:ext uri="{FF2B5EF4-FFF2-40B4-BE49-F238E27FC236}">
                <a16:creationId xmlns:a16="http://schemas.microsoft.com/office/drawing/2014/main" id="{B9A81E87-0108-47A1-A856-4914B294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295775"/>
            <a:ext cx="809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polygons and z bands</a:t>
            </a:r>
          </a:p>
        </p:txBody>
      </p:sp>
      <p:sp>
        <p:nvSpPr>
          <p:cNvPr id="66" name="phone-preview-box">
            <a:extLst xmlns:a="http://schemas.openxmlformats.org/drawingml/2006/main">
              <a:ext uri="{FF2B5EF4-FFF2-40B4-BE49-F238E27FC236}">
                <a16:creationId xmlns:a16="http://schemas.microsoft.com/office/drawing/2014/main" id="{A3C59E89-8BE7-4443-A97B-F24CED17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86200"/>
            <a:ext cx="1000125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67" name="phone-preview-title">
            <a:extLst xmlns:a="http://schemas.openxmlformats.org/drawingml/2006/main">
              <a:ext uri="{FF2B5EF4-FFF2-40B4-BE49-F238E27FC236}">
                <a16:creationId xmlns:a16="http://schemas.microsoft.com/office/drawing/2014/main" id="{D7CB4C2E-B8F2-44BE-A9AE-FBC98DD1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9624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18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18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3D Preview</a:t>
            </a:r>
          </a:p>
        </p:txBody>
      </p:sp>
      <p:sp>
        <p:nvSpPr>
          <p:cNvPr id="68" name="phone-preview-body">
            <a:extLst xmlns:a="http://schemas.openxmlformats.org/drawingml/2006/main">
              <a:ext uri="{FF2B5EF4-FFF2-40B4-BE49-F238E27FC236}">
                <a16:creationId xmlns:a16="http://schemas.microsoft.com/office/drawing/2014/main" id="{7B106CE3-2B3A-4092-BB5E-B2883FE6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295775"/>
            <a:ext cx="809625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inspect mesh</a:t>
            </a:r>
          </a:p>
        </p:txBody>
      </p:sp>
      <p:sp>
        <p:nvSpPr>
          <p:cNvPr id="69" name="phone-colorization-box">
            <a:extLst xmlns:a="http://schemas.openxmlformats.org/drawingml/2006/main">
              <a:ext uri="{FF2B5EF4-FFF2-40B4-BE49-F238E27FC236}">
                <a16:creationId xmlns:a16="http://schemas.microsoft.com/office/drawing/2014/main" id="{30F9E0C3-4A3F-49FE-86F7-238B2CA1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953000"/>
            <a:ext cx="1000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70" name="phone-colorization-title">
            <a:extLst xmlns:a="http://schemas.openxmlformats.org/drawingml/2006/main">
              <a:ext uri="{FF2B5EF4-FFF2-40B4-BE49-F238E27FC236}">
                <a16:creationId xmlns:a16="http://schemas.microsoft.com/office/drawing/2014/main" id="{505FA879-110B-4C98-937C-86AD8C3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292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00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RGB Mesh Colorization</a:t>
            </a:r>
          </a:p>
        </p:txBody>
      </p:sp>
      <p:sp>
        <p:nvSpPr>
          <p:cNvPr id="71" name="phone-colorization-body">
            <a:extLst xmlns:a="http://schemas.openxmlformats.org/drawingml/2006/main">
              <a:ext uri="{FF2B5EF4-FFF2-40B4-BE49-F238E27FC236}">
                <a16:creationId xmlns:a16="http://schemas.microsoft.com/office/drawing/2014/main" id="{AC71ACB8-A830-4668-AB11-6FB61FE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362575"/>
            <a:ext cx="8096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colorized preview</a:t>
            </a:r>
          </a:p>
        </p:txBody>
      </p:sp>
      <p:sp>
        <p:nvSpPr>
          <p:cNvPr id="72" name="phone-storage-box">
            <a:extLst xmlns:a="http://schemas.openxmlformats.org/drawingml/2006/main">
              <a:ext uri="{FF2B5EF4-FFF2-40B4-BE49-F238E27FC236}">
                <a16:creationId xmlns:a16="http://schemas.microsoft.com/office/drawing/2014/main" id="{D59BE6A1-F309-4D41-8276-A8009743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953000"/>
            <a:ext cx="1000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10001">
            <a:solidFill>
              <a:srgbClr val="7FB2E6"/>
            </a:solidFill>
            <a:prstDash val="solid"/>
          </a:ln>
        </p:spPr>
      </p:sp>
      <p:sp>
        <p:nvSpPr>
          <p:cNvPr id="73" name="phone-storage-title">
            <a:extLst xmlns:a="http://schemas.openxmlformats.org/drawingml/2006/main">
              <a:ext uri="{FF2B5EF4-FFF2-40B4-BE49-F238E27FC236}">
                <a16:creationId xmlns:a16="http://schemas.microsoft.com/office/drawing/2014/main" id="{74763F3C-59B7-45BC-A9CB-B5342E99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029200"/>
            <a:ext cx="8477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Local storage</a:t>
            </a:r>
          </a:p>
          <a:p xmlns:a="http://schemas.openxmlformats.org/drawingml/2006/main">
            <a:pPr algn="ctr">
              <a:defRPr sz="96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plus optional</a:t>
            </a:r>
          </a:p>
          <a:p xmlns:a="http://schemas.openxmlformats.org/drawingml/2006/main">
            <a:pPr algn="ctr">
              <a:defRPr sz="96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HTTP upload</a:t>
            </a:r>
          </a:p>
        </p:txBody>
      </p:sp>
      <p:sp>
        <p:nvSpPr>
          <p:cNvPr id="74" name="phonescene-folder-tab">
            <a:extLst xmlns:a="http://schemas.openxmlformats.org/drawingml/2006/main">
              <a:ext uri="{FF2B5EF4-FFF2-40B4-BE49-F238E27FC236}">
                <a16:creationId xmlns:a16="http://schemas.microsoft.com/office/drawing/2014/main" id="{06645A98-068A-4F15-901E-8D80B841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00300"/>
            <a:ext cx="1752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10478">
            <a:solidFill>
              <a:srgbClr val="D99242"/>
            </a:solidFill>
            <a:prstDash val="solid"/>
          </a:ln>
        </p:spPr>
      </p:sp>
      <p:sp>
        <p:nvSpPr>
          <p:cNvPr id="75" name="phonescene-folder-body">
            <a:extLst xmlns:a="http://schemas.openxmlformats.org/drawingml/2006/main">
              <a:ext uri="{FF2B5EF4-FFF2-40B4-BE49-F238E27FC236}">
                <a16:creationId xmlns:a16="http://schemas.microsoft.com/office/drawing/2014/main" id="{0755DE1E-5951-4D09-A40E-3D146BA4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4524375" cy="5238750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AF4"/>
          </a:solidFill>
          <a:ln xmlns:a="http://schemas.openxmlformats.org/drawingml/2006/main" w="13335">
            <a:solidFill>
              <a:srgbClr val="D99242"/>
            </a:solidFill>
            <a:prstDash val="solid"/>
          </a:ln>
        </p:spPr>
      </p:sp>
      <p:sp>
        <p:nvSpPr>
          <p:cNvPr id="76" name="phonescene-label">
            <a:extLst xmlns:a="http://schemas.openxmlformats.org/drawingml/2006/main">
              <a:ext uri="{FF2B5EF4-FFF2-40B4-BE49-F238E27FC236}">
                <a16:creationId xmlns:a16="http://schemas.microsoft.com/office/drawing/2014/main" id="{EA5FFC20-4E2C-43D8-A6BB-16782ECD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43225"/>
            <a:ext cx="41433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8C4B0C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8C4B0C"/>
                </a:solidFill>
                <a:latin typeface="Courier New"/>
                <a:ea typeface="Courier New"/>
                <a:cs typeface="Courier New"/>
              </a:rPr>
              <a:t>.phonescene</a:t>
            </a:r>
          </a:p>
        </p:txBody>
      </p:sp>
      <p:sp>
        <p:nvSpPr>
          <p:cNvPr id="77" name="phonescene-subtitle">
            <a:extLst xmlns:a="http://schemas.openxmlformats.org/drawingml/2006/main">
              <a:ext uri="{FF2B5EF4-FFF2-40B4-BE49-F238E27FC236}">
                <a16:creationId xmlns:a16="http://schemas.microsoft.com/office/drawing/2014/main" id="{7DB7CA3C-C87C-49E1-ABC4-00B64B0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05175"/>
            <a:ext cx="4143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open capture package</a:t>
            </a:r>
          </a:p>
        </p:txBody>
      </p:sp>
      <p:sp>
        <p:nvSpPr>
          <p:cNvPr id="78" name="file-line-1">
            <a:extLst xmlns:a="http://schemas.openxmlformats.org/drawingml/2006/main">
              <a:ext uri="{FF2B5EF4-FFF2-40B4-BE49-F238E27FC236}">
                <a16:creationId xmlns:a16="http://schemas.microsoft.com/office/drawing/2014/main" id="{09E8F2AE-EE3E-46B7-8BE3-D3F88677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2905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metadata.json</a:t>
            </a:r>
          </a:p>
        </p:txBody>
      </p:sp>
      <p:sp>
        <p:nvSpPr>
          <p:cNvPr id="79" name="file-line-2">
            <a:extLst xmlns:a="http://schemas.openxmlformats.org/drawingml/2006/main">
              <a:ext uri="{FF2B5EF4-FFF2-40B4-BE49-F238E27FC236}">
                <a16:creationId xmlns:a16="http://schemas.microsoft.com/office/drawing/2014/main" id="{3002126F-573A-4A7D-9E9D-6FC6312D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910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manifest.jsonl</a:t>
            </a:r>
          </a:p>
        </p:txBody>
      </p:sp>
      <p:sp>
        <p:nvSpPr>
          <p:cNvPr id="80" name="file-line-3">
            <a:extLst xmlns:a="http://schemas.openxmlformats.org/drawingml/2006/main">
              <a:ext uri="{FF2B5EF4-FFF2-40B4-BE49-F238E27FC236}">
                <a16:creationId xmlns:a16="http://schemas.microsoft.com/office/drawing/2014/main" id="{F1BFA218-18BD-4784-8F64-AE64E2D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rgb/*.png</a:t>
            </a:r>
          </a:p>
        </p:txBody>
      </p:sp>
      <p:sp>
        <p:nvSpPr>
          <p:cNvPr id="81" name="file-line-4">
            <a:extLst xmlns:a="http://schemas.openxmlformats.org/drawingml/2006/main">
              <a:ext uri="{FF2B5EF4-FFF2-40B4-BE49-F238E27FC236}">
                <a16:creationId xmlns:a16="http://schemas.microsoft.com/office/drawing/2014/main" id="{4CF529A7-0B1D-44EE-811B-F627EA91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depth/*.f32</a:t>
            </a:r>
          </a:p>
        </p:txBody>
      </p:sp>
      <p:sp>
        <p:nvSpPr>
          <p:cNvPr id="82" name="file-line-5">
            <a:extLst xmlns:a="http://schemas.openxmlformats.org/drawingml/2006/main">
              <a:ext uri="{FF2B5EF4-FFF2-40B4-BE49-F238E27FC236}">
                <a16:creationId xmlns:a16="http://schemas.microsoft.com/office/drawing/2014/main" id="{A1108441-DCA9-4F0E-966B-ED15272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27685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confidence/*.u8</a:t>
            </a:r>
          </a:p>
        </p:txBody>
      </p:sp>
      <p:sp>
        <p:nvSpPr>
          <p:cNvPr id="83" name="file-line-6">
            <a:extLst xmlns:a="http://schemas.openxmlformats.org/drawingml/2006/main">
              <a:ext uri="{FF2B5EF4-FFF2-40B4-BE49-F238E27FC236}">
                <a16:creationId xmlns:a16="http://schemas.microsoft.com/office/drawing/2014/main" id="{ABCA29B3-2945-4416-AB73-2F4B4DF9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388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mesh/arkit_mesh_world.ply</a:t>
            </a:r>
          </a:p>
        </p:txBody>
      </p:sp>
      <p:sp>
        <p:nvSpPr>
          <p:cNvPr id="84" name="file-line-7">
            <a:extLst xmlns:a="http://schemas.openxmlformats.org/drawingml/2006/main">
              <a:ext uri="{FF2B5EF4-FFF2-40B4-BE49-F238E27FC236}">
                <a16:creationId xmlns:a16="http://schemas.microsoft.com/office/drawing/2014/main" id="{F1647629-A3AC-40B2-8D44-754069A7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00075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annotation/gt_rooms.json</a:t>
            </a:r>
          </a:p>
        </p:txBody>
      </p:sp>
      <p:sp>
        <p:nvSpPr>
          <p:cNvPr id="85" name="file-line-8">
            <a:extLst xmlns:a="http://schemas.openxmlformats.org/drawingml/2006/main">
              <a:ext uri="{FF2B5EF4-FFF2-40B4-BE49-F238E27FC236}">
                <a16:creationId xmlns:a16="http://schemas.microsoft.com/office/drawing/2014/main" id="{79D206A9-5269-4139-8464-967963D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36270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annotation/topdown_map.png</a:t>
            </a:r>
          </a:p>
        </p:txBody>
      </p:sp>
      <p:sp>
        <p:nvSpPr>
          <p:cNvPr id="86" name="file-line-9">
            <a:extLst xmlns:a="http://schemas.openxmlformats.org/drawingml/2006/main">
              <a:ext uri="{FF2B5EF4-FFF2-40B4-BE49-F238E27FC236}">
                <a16:creationId xmlns:a16="http://schemas.microsoft.com/office/drawing/2014/main" id="{C3F92E55-85F5-40BF-8881-BA5FF80A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724650"/>
            <a:ext cx="2781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095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preview_mesh*.json/bin</a:t>
            </a:r>
          </a:p>
        </p:txBody>
      </p:sp>
      <p:sp>
        <p:nvSpPr>
          <p:cNvPr id="87" name="tag-room-gt-box">
            <a:extLst xmlns:a="http://schemas.openxmlformats.org/drawingml/2006/main">
              <a:ext uri="{FF2B5EF4-FFF2-40B4-BE49-F238E27FC236}">
                <a16:creationId xmlns:a16="http://schemas.microsoft.com/office/drawing/2014/main" id="{B13DFF08-AEE4-4F3D-B882-75DC468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010275"/>
            <a:ext cx="685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7620">
            <a:solidFill>
              <a:srgbClr val="5E91CA"/>
            </a:solidFill>
            <a:prstDash val="solid"/>
          </a:ln>
        </p:spPr>
      </p:sp>
      <p:sp>
        <p:nvSpPr>
          <p:cNvPr id="88" name="tag-room-gt-text">
            <a:extLst xmlns:a="http://schemas.openxmlformats.org/drawingml/2006/main">
              <a:ext uri="{FF2B5EF4-FFF2-40B4-BE49-F238E27FC236}">
                <a16:creationId xmlns:a16="http://schemas.microsoft.com/office/drawing/2014/main" id="{08D7A9B5-36F5-4551-8D2F-A1DE8791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038850"/>
            <a:ext cx="609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A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F6FAF"/>
                </a:solidFill>
                <a:latin typeface="Arial"/>
                <a:ea typeface="Arial"/>
                <a:cs typeface="Arial"/>
              </a:rPr>
              <a:t>room GT</a:t>
            </a:r>
          </a:p>
        </p:txBody>
      </p:sp>
      <p:sp>
        <p:nvSpPr>
          <p:cNvPr id="89" name="tag-preview-box">
            <a:extLst xmlns:a="http://schemas.openxmlformats.org/drawingml/2006/main">
              <a:ext uri="{FF2B5EF4-FFF2-40B4-BE49-F238E27FC236}">
                <a16:creationId xmlns:a16="http://schemas.microsoft.com/office/drawing/2014/main" id="{264BB59E-F046-45BC-A986-18219E387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734175"/>
            <a:ext cx="6858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7620">
            <a:solidFill>
              <a:srgbClr val="5E91CA"/>
            </a:solidFill>
            <a:prstDash val="solid"/>
          </a:ln>
        </p:spPr>
      </p:sp>
      <p:sp>
        <p:nvSpPr>
          <p:cNvPr id="90" name="tag-preview-text">
            <a:extLst xmlns:a="http://schemas.openxmlformats.org/drawingml/2006/main">
              <a:ext uri="{FF2B5EF4-FFF2-40B4-BE49-F238E27FC236}">
                <a16:creationId xmlns:a16="http://schemas.microsoft.com/office/drawing/2014/main" id="{519E5834-4F61-44B2-ACBD-3B20D865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762750"/>
            <a:ext cx="6096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F6FAF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F6FAF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91" name="phonescene-bottom-note-box">
            <a:extLst xmlns:a="http://schemas.openxmlformats.org/drawingml/2006/main">
              <a:ext uri="{FF2B5EF4-FFF2-40B4-BE49-F238E27FC236}">
                <a16:creationId xmlns:a16="http://schemas.microsoft.com/office/drawing/2014/main" id="{F51D6E27-891E-42AE-848D-C66305E8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219950"/>
            <a:ext cx="39909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8573">
            <a:solidFill>
              <a:srgbClr val="D9A45F"/>
            </a:solidFill>
            <a:prstDash val="solid"/>
          </a:ln>
        </p:spPr>
      </p:sp>
      <p:sp>
        <p:nvSpPr>
          <p:cNvPr id="92" name="phonescene-bottom-note">
            <a:extLst xmlns:a="http://schemas.openxmlformats.org/drawingml/2006/main">
              <a:ext uri="{FF2B5EF4-FFF2-40B4-BE49-F238E27FC236}">
                <a16:creationId xmlns:a16="http://schemas.microsoft.com/office/drawing/2014/main" id="{46EFCA1A-86F9-430D-92DF-5B3C494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324725"/>
            <a:ext cx="3686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90" b="0">
                <a:solidFill>
                  <a:srgbClr val="68420E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68420E"/>
                </a:solidFill>
                <a:latin typeface="Arial"/>
                <a:ea typeface="Arial"/>
                <a:cs typeface="Arial"/>
              </a:rPr>
              <a:t>Directory-based, inspectable, copyable, and free of custom binary dependencies</a:t>
            </a:r>
          </a:p>
        </p:txBody>
      </p:sp>
      <p:sp>
        <p:nvSpPr>
          <p:cNvPr id="93" name="tool-intake-box">
            <a:extLst xmlns:a="http://schemas.openxmlformats.org/drawingml/2006/main">
              <a:ext uri="{FF2B5EF4-FFF2-40B4-BE49-F238E27FC236}">
                <a16:creationId xmlns:a16="http://schemas.microsoft.com/office/drawing/2014/main" id="{1F2E907F-AAA3-4AC0-8C12-C6A25386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305050"/>
            <a:ext cx="50006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94" name="tool-intake-title">
            <a:extLst xmlns:a="http://schemas.openxmlformats.org/drawingml/2006/main">
              <a:ext uri="{FF2B5EF4-FFF2-40B4-BE49-F238E27FC236}">
                <a16:creationId xmlns:a16="http://schemas.microsoft.com/office/drawing/2014/main" id="{D2F24AB1-2250-4E7B-AF0D-067C52B7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381250"/>
            <a:ext cx="48482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44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44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Package Intake</a:t>
            </a:r>
          </a:p>
        </p:txBody>
      </p:sp>
      <p:sp>
        <p:nvSpPr>
          <p:cNvPr id="95" name="tool-intake-body">
            <a:extLst xmlns:a="http://schemas.openxmlformats.org/drawingml/2006/main">
              <a:ext uri="{FF2B5EF4-FFF2-40B4-BE49-F238E27FC236}">
                <a16:creationId xmlns:a16="http://schemas.microsoft.com/office/drawing/2014/main" id="{B0B7C649-2A51-4D43-AF84-4E894028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2714625"/>
            <a:ext cx="2905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receiver.py: HTTP receiver, token checking, staging, package validation</a:t>
            </a:r>
          </a:p>
        </p:txBody>
      </p:sp>
      <p:sp>
        <p:nvSpPr>
          <p:cNvPr id="96" name="tool-sidar-receiver-box">
            <a:extLst xmlns:a="http://schemas.openxmlformats.org/drawingml/2006/main">
              <a:ext uri="{FF2B5EF4-FFF2-40B4-BE49-F238E27FC236}">
                <a16:creationId xmlns:a16="http://schemas.microsoft.com/office/drawing/2014/main" id="{D66E3C8B-9ED2-4187-901A-6967215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75" y="2847975"/>
            <a:ext cx="11620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0AD83"/>
            </a:solidFill>
            <a:prstDash val="solid"/>
          </a:ln>
        </p:spPr>
      </p:sp>
      <p:sp>
        <p:nvSpPr>
          <p:cNvPr id="97" name="tool-sidar-receiver-text">
            <a:extLst xmlns:a="http://schemas.openxmlformats.org/drawingml/2006/main">
              <a:ext uri="{FF2B5EF4-FFF2-40B4-BE49-F238E27FC236}">
                <a16:creationId xmlns:a16="http://schemas.microsoft.com/office/drawing/2014/main" id="{92294F7C-3090-43D9-A6C5-5E0D06A3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2905125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F7F4F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F4F"/>
                </a:solidFill>
                <a:latin typeface="Arial"/>
                <a:ea typeface="Arial"/>
                <a:cs typeface="Arial"/>
              </a:rPr>
              <a:t>SIDAR Receiver</a:t>
            </a:r>
          </a:p>
        </p:txBody>
      </p:sp>
      <p:sp>
        <p:nvSpPr>
          <p:cNvPr id="98" name="tool-validator-box">
            <a:extLst xmlns:a="http://schemas.openxmlformats.org/drawingml/2006/main">
              <a:ext uri="{FF2B5EF4-FFF2-40B4-BE49-F238E27FC236}">
                <a16:creationId xmlns:a16="http://schemas.microsoft.com/office/drawing/2014/main" id="{7ADF1EFB-4A26-43C1-9CEA-53727306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00450"/>
            <a:ext cx="24003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99" name="tool-validator-title">
            <a:extLst xmlns:a="http://schemas.openxmlformats.org/drawingml/2006/main">
              <a:ext uri="{FF2B5EF4-FFF2-40B4-BE49-F238E27FC236}">
                <a16:creationId xmlns:a16="http://schemas.microsoft.com/office/drawing/2014/main" id="{4157C7BC-F139-42A4-91E6-EC145E05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6766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58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8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Scene Validator</a:t>
            </a:r>
          </a:p>
        </p:txBody>
      </p:sp>
      <p:sp>
        <p:nvSpPr>
          <p:cNvPr id="100" name="tool-validator-body">
            <a:extLst xmlns:a="http://schemas.openxmlformats.org/drawingml/2006/main">
              <a:ext uri="{FF2B5EF4-FFF2-40B4-BE49-F238E27FC236}">
                <a16:creationId xmlns:a16="http://schemas.microsoft.com/office/drawing/2014/main" id="{B6CAA8C4-9B57-4BB9-8310-9D4AA2AA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10025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validation.py: files, depth, intrinsics, pose continuity, tracking state</a:t>
            </a:r>
          </a:p>
        </p:txBody>
      </p:sp>
      <p:sp>
        <p:nvSpPr>
          <p:cNvPr id="101" name="tool-coordinates-box">
            <a:extLst xmlns:a="http://schemas.openxmlformats.org/drawingml/2006/main">
              <a:ext uri="{FF2B5EF4-FFF2-40B4-BE49-F238E27FC236}">
                <a16:creationId xmlns:a16="http://schemas.microsoft.com/office/drawing/2014/main" id="{08866D67-C96A-4DDD-9895-782081ED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3600450"/>
            <a:ext cx="24003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102" name="tool-coordinates-title">
            <a:extLst xmlns:a="http://schemas.openxmlformats.org/drawingml/2006/main">
              <a:ext uri="{FF2B5EF4-FFF2-40B4-BE49-F238E27FC236}">
                <a16:creationId xmlns:a16="http://schemas.microsoft.com/office/drawing/2014/main" id="{0E63ABB6-941B-4B15-B699-2B06C905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36766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28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8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Coordinate Conversion</a:t>
            </a:r>
          </a:p>
        </p:txBody>
      </p:sp>
      <p:sp>
        <p:nvSpPr>
          <p:cNvPr id="103" name="tool-coordinates-body">
            <a:extLst xmlns:a="http://schemas.openxmlformats.org/drawingml/2006/main">
              <a:ext uri="{FF2B5EF4-FFF2-40B4-BE49-F238E27FC236}">
                <a16:creationId xmlns:a16="http://schemas.microsoft.com/office/drawing/2014/main" id="{5C75C869-950F-46F4-8E2C-AEE6A400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4010025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coordinates.py: ARKit world to ROS world; camera and mesh frames</a:t>
            </a:r>
          </a:p>
        </p:txBody>
      </p:sp>
      <p:sp>
        <p:nvSpPr>
          <p:cNvPr id="104" name="tool-mesh-box">
            <a:extLst xmlns:a="http://schemas.openxmlformats.org/drawingml/2006/main">
              <a:ext uri="{FF2B5EF4-FFF2-40B4-BE49-F238E27FC236}">
                <a16:creationId xmlns:a16="http://schemas.microsoft.com/office/drawing/2014/main" id="{5C51C680-0E20-4B35-AFD8-97404834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895850"/>
            <a:ext cx="24003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105" name="tool-mesh-title">
            <a:extLst xmlns:a="http://schemas.openxmlformats.org/drawingml/2006/main">
              <a:ext uri="{FF2B5EF4-FFF2-40B4-BE49-F238E27FC236}">
                <a16:creationId xmlns:a16="http://schemas.microsoft.com/office/drawing/2014/main" id="{E8BE3D06-A3CF-42E0-9684-F0F864C0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9720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3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3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Mesh / USD Builder</a:t>
            </a:r>
          </a:p>
        </p:txBody>
      </p:sp>
      <p:sp>
        <p:nvSpPr>
          <p:cNvPr id="106" name="tool-mesh-body">
            <a:extLst xmlns:a="http://schemas.openxmlformats.org/drawingml/2006/main">
              <a:ext uri="{FF2B5EF4-FFF2-40B4-BE49-F238E27FC236}">
                <a16:creationId xmlns:a16="http://schemas.microsoft.com/office/drawing/2014/main" id="{338F3CD7-702A-4808-851E-1B928DA3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305425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mesh.py: ARKit mesh or depth triangles; scene.usda export</a:t>
            </a:r>
          </a:p>
        </p:txBody>
      </p:sp>
      <p:sp>
        <p:nvSpPr>
          <p:cNvPr id="107" name="tool-isaac-box">
            <a:extLst xmlns:a="http://schemas.openxmlformats.org/drawingml/2006/main">
              <a:ext uri="{FF2B5EF4-FFF2-40B4-BE49-F238E27FC236}">
                <a16:creationId xmlns:a16="http://schemas.microsoft.com/office/drawing/2014/main" id="{4827BF5B-B0E5-43AC-9440-D5DA45A0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4895850"/>
            <a:ext cx="24003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108" name="tool-isaac-title">
            <a:extLst xmlns:a="http://schemas.openxmlformats.org/drawingml/2006/main">
              <a:ext uri="{FF2B5EF4-FFF2-40B4-BE49-F238E27FC236}">
                <a16:creationId xmlns:a16="http://schemas.microsoft.com/office/drawing/2014/main" id="{6157CDCC-79EB-45AB-9955-DDAA10F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49720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3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3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Isaac Render Script</a:t>
            </a:r>
          </a:p>
        </p:txBody>
      </p:sp>
      <p:sp>
        <p:nvSpPr>
          <p:cNvPr id="109" name="tool-isaac-body">
            <a:extLst xmlns:a="http://schemas.openxmlformats.org/drawingml/2006/main">
              <a:ext uri="{FF2B5EF4-FFF2-40B4-BE49-F238E27FC236}">
                <a16:creationId xmlns:a16="http://schemas.microsoft.com/office/drawing/2014/main" id="{FD4DBA16-EF32-4FD6-AD02-BDECB1DA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5305425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isaac.py: RGB-D and pose render package from USD scene</a:t>
            </a:r>
          </a:p>
        </p:txBody>
      </p:sp>
      <p:sp>
        <p:nvSpPr>
          <p:cNvPr id="110" name="tool-rosbag-box">
            <a:extLst xmlns:a="http://schemas.openxmlformats.org/drawingml/2006/main">
              <a:ext uri="{FF2B5EF4-FFF2-40B4-BE49-F238E27FC236}">
                <a16:creationId xmlns:a16="http://schemas.microsoft.com/office/drawing/2014/main" id="{E9E8380D-21A6-481A-8408-E16E9560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191250"/>
            <a:ext cx="24003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111" name="tool-rosbag-title">
            <a:extLst xmlns:a="http://schemas.openxmlformats.org/drawingml/2006/main">
              <a:ext uri="{FF2B5EF4-FFF2-40B4-BE49-F238E27FC236}">
                <a16:creationId xmlns:a16="http://schemas.microsoft.com/office/drawing/2014/main" id="{CACE0662-12F8-4BDF-B274-C749FB33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674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3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3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ROS2 Bag Writer</a:t>
            </a:r>
          </a:p>
        </p:txBody>
      </p:sp>
      <p:sp>
        <p:nvSpPr>
          <p:cNvPr id="112" name="tool-rosbag-body">
            <a:extLst xmlns:a="http://schemas.openxmlformats.org/drawingml/2006/main">
              <a:ext uri="{FF2B5EF4-FFF2-40B4-BE49-F238E27FC236}">
                <a16:creationId xmlns:a16="http://schemas.microsoft.com/office/drawing/2014/main" id="{B99144DA-5F1F-4561-9B76-BF0A599D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600825"/>
            <a:ext cx="2209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rosbag_writer.py: MP3D-compatible topic contract; rosbag2 output</a:t>
            </a:r>
          </a:p>
        </p:txBody>
      </p:sp>
      <p:sp>
        <p:nvSpPr>
          <p:cNvPr id="113" name="tool-cli-box">
            <a:extLst xmlns:a="http://schemas.openxmlformats.org/drawingml/2006/main">
              <a:ext uri="{FF2B5EF4-FFF2-40B4-BE49-F238E27FC236}">
                <a16:creationId xmlns:a16="http://schemas.microsoft.com/office/drawing/2014/main" id="{CAC741B8-9306-47A1-A0EE-CAB6000A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87575" y="6191250"/>
            <a:ext cx="24003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DF8F1"/>
          </a:solidFill>
          <a:ln xmlns:a="http://schemas.openxmlformats.org/drawingml/2006/main" w="10001">
            <a:solidFill>
              <a:srgbClr val="70AD83"/>
            </a:solidFill>
            <a:prstDash val="solid"/>
          </a:ln>
        </p:spPr>
      </p:sp>
      <p:sp>
        <p:nvSpPr>
          <p:cNvPr id="114" name="tool-cli-title">
            <a:extLst xmlns:a="http://schemas.openxmlformats.org/drawingml/2006/main">
              <a:ext uri="{FF2B5EF4-FFF2-40B4-BE49-F238E27FC236}">
                <a16:creationId xmlns:a16="http://schemas.microsoft.com/office/drawing/2014/main" id="{416839B9-F7AA-4457-9E3A-6BD96BE1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6267450"/>
            <a:ext cx="22479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3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3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CLI Entrypoint</a:t>
            </a:r>
          </a:p>
        </p:txBody>
      </p:sp>
      <p:sp>
        <p:nvSpPr>
          <p:cNvPr id="115" name="tool-cli-body">
            <a:extLst xmlns:a="http://schemas.openxmlformats.org/drawingml/2006/main">
              <a:ext uri="{FF2B5EF4-FFF2-40B4-BE49-F238E27FC236}">
                <a16:creationId xmlns:a16="http://schemas.microsoft.com/office/drawing/2014/main" id="{7E738C19-628F-48CB-8CEA-0336AA52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6600825"/>
            <a:ext cx="2209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cli.py</a:t>
            </a:r>
          </a:p>
        </p:txBody>
      </p:sp>
      <p:sp>
        <p:nvSpPr>
          <p:cNvPr id="116" name="tool-cli-command">
            <a:extLst xmlns:a="http://schemas.openxmlformats.org/drawingml/2006/main">
              <a:ext uri="{FF2B5EF4-FFF2-40B4-BE49-F238E27FC236}">
                <a16:creationId xmlns:a16="http://schemas.microsoft.com/office/drawing/2014/main" id="{DDD66954-0131-4E20-AB56-C00AB447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025" y="680085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1163" b="1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phone-scene</a:t>
            </a:r>
          </a:p>
        </p:txBody>
      </p:sp>
      <p:sp>
        <p:nvSpPr>
          <p:cNvPr id="117" name="tool-cli-subcommands">
            <a:extLst xmlns:a="http://schemas.openxmlformats.org/drawingml/2006/main">
              <a:ext uri="{FF2B5EF4-FFF2-40B4-BE49-F238E27FC236}">
                <a16:creationId xmlns:a16="http://schemas.microsoft.com/office/drawing/2014/main" id="{B73A8561-77BD-4C80-B8D3-0C7FE149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9975" y="7048500"/>
            <a:ext cx="2095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10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receive | validate | build-mesh | make-isaac-script | render-to-bag</a:t>
            </a:r>
          </a:p>
        </p:txBody>
      </p:sp>
      <p:cxnSp>
        <p:nvCxnSpPr>
          <p:cNvPr id="118" name="tool-intake-to-validator"/>
          <p:cNvCxnSpPr>
            <a:stCxn xmlns:a="http://schemas.openxmlformats.org/drawingml/2006/main" id="93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 flipH="1">
            <a:off x="13487400" y="3295650"/>
            <a:ext cx="1300163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cxnSp>
        <p:nvCxnSpPr>
          <p:cNvPr id="119" name="tool-intake-to-coordinates"/>
          <p:cNvCxnSpPr>
            <a:stCxn xmlns:a="http://schemas.openxmlformats.org/drawingml/2006/main" id="93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4787563" y="3295650"/>
            <a:ext cx="1300163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cxnSp>
        <p:nvCxnSpPr>
          <p:cNvPr id="120" name="tool-validator-to-mesh"/>
          <p:cNvCxnSpPr>
            <a:stCxn xmlns:a="http://schemas.openxmlformats.org/drawingml/2006/main" id="98" idx="2"/>
            <a:endCxn xmlns:a="http://schemas.openxmlformats.org/drawingml/2006/main" id="104" idx="0"/>
          </p:cNvCxnSpPr>
          <p:nvPr/>
        </p:nvCxnSpPr>
        <p:spPr>
          <a:xfrm xmlns:a="http://schemas.openxmlformats.org/drawingml/2006/main">
            <a:off x="13487400" y="46005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cxnSp>
        <p:nvCxnSpPr>
          <p:cNvPr id="121" name="tool-coordinates-to-isaac"/>
          <p:cNvCxnSpPr>
            <a:stCxn xmlns:a="http://schemas.openxmlformats.org/drawingml/2006/main" id="101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6087725" y="46005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cxnSp>
        <p:nvCxnSpPr>
          <p:cNvPr id="122" name="tool-mesh-to-isaac"/>
          <p:cNvCxnSpPr>
            <a:stCxn xmlns:a="http://schemas.openxmlformats.org/drawingml/2006/main" id="104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>
            <a:off x="14687550" y="5395913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cxnSp>
        <p:nvCxnSpPr>
          <p:cNvPr id="123" name="tool-mesh-to-rosbag"/>
          <p:cNvCxnSpPr>
            <a:stCxn xmlns:a="http://schemas.openxmlformats.org/drawingml/2006/main" id="104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13487400" y="589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cxnSp>
        <p:nvCxnSpPr>
          <p:cNvPr id="124" name="tool-rosbag-to-cli"/>
          <p:cNvCxnSpPr>
            <a:stCxn xmlns:a="http://schemas.openxmlformats.org/drawingml/2006/main" id="110" idx="3"/>
            <a:endCxn xmlns:a="http://schemas.openxmlformats.org/drawingml/2006/main" id="113" idx="1"/>
          </p:cNvCxnSpPr>
          <p:nvPr/>
        </p:nvCxnSpPr>
        <p:spPr>
          <a:xfrm xmlns:a="http://schemas.openxmlformats.org/drawingml/2006/main">
            <a:off x="14687550" y="6786563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2F7F4F"/>
            </a:solidFill>
            <a:prstDash val="solid"/>
            <a:headEnd type="none" w="med" len="med"/>
          </a:ln>
        </p:spPr>
      </p:cxnSp>
      <p:sp>
        <p:nvSpPr>
          <p:cNvPr id="125" name="tool-intake-to-validator-head">
            <a:extLst xmlns:a="http://schemas.openxmlformats.org/drawingml/2006/main">
              <a:ext uri="{FF2B5EF4-FFF2-40B4-BE49-F238E27FC236}">
                <a16:creationId xmlns:a16="http://schemas.microsoft.com/office/drawing/2014/main" id="{1F077467-4FB0-46E1-BF5C-5A393D72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449300" y="35242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26" name="tool-intake-to-coordinates-head">
            <a:extLst xmlns:a="http://schemas.openxmlformats.org/drawingml/2006/main">
              <a:ext uri="{FF2B5EF4-FFF2-40B4-BE49-F238E27FC236}">
                <a16:creationId xmlns:a16="http://schemas.microsoft.com/office/drawing/2014/main" id="{5ABAB8C9-072F-4317-889A-8E73BB24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049625" y="35242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27" name="tool-validator-to-mesh-head">
            <a:extLst xmlns:a="http://schemas.openxmlformats.org/drawingml/2006/main">
              <a:ext uri="{FF2B5EF4-FFF2-40B4-BE49-F238E27FC236}">
                <a16:creationId xmlns:a16="http://schemas.microsoft.com/office/drawing/2014/main" id="{F78A5BA3-F945-4F10-B8A4-3DD31E55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449300" y="4819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28" name="tool-coordinates-to-isaac-head">
            <a:extLst xmlns:a="http://schemas.openxmlformats.org/drawingml/2006/main">
              <a:ext uri="{FF2B5EF4-FFF2-40B4-BE49-F238E27FC236}">
                <a16:creationId xmlns:a16="http://schemas.microsoft.com/office/drawing/2014/main" id="{ABF15BB6-8A09-4CD0-A3C1-CD89CF59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049625" y="48196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29" name="tool-mesh-to-isaac-head">
            <a:extLst xmlns:a="http://schemas.openxmlformats.org/drawingml/2006/main">
              <a:ext uri="{FF2B5EF4-FFF2-40B4-BE49-F238E27FC236}">
                <a16:creationId xmlns:a16="http://schemas.microsoft.com/office/drawing/2014/main" id="{C87FDA4E-C047-40EC-92A3-F0739CB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801850" y="53530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30" name="tool-mesh-to-rosbag-head">
            <a:extLst xmlns:a="http://schemas.openxmlformats.org/drawingml/2006/main">
              <a:ext uri="{FF2B5EF4-FFF2-40B4-BE49-F238E27FC236}">
                <a16:creationId xmlns:a16="http://schemas.microsoft.com/office/drawing/2014/main" id="{8845ACEC-5187-4D59-BF72-D3E75F22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3449300" y="611505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31" name="tool-rosbag-to-cli-head">
            <a:extLst xmlns:a="http://schemas.openxmlformats.org/drawingml/2006/main">
              <a:ext uri="{FF2B5EF4-FFF2-40B4-BE49-F238E27FC236}">
                <a16:creationId xmlns:a16="http://schemas.microsoft.com/office/drawing/2014/main" id="{9F2EE5D3-73FA-442D-BE0D-53A6B033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801850" y="67437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32" name="output-phonescene-box">
            <a:extLst xmlns:a="http://schemas.openxmlformats.org/drawingml/2006/main">
              <a:ext uri="{FF2B5EF4-FFF2-40B4-BE49-F238E27FC236}">
                <a16:creationId xmlns:a16="http://schemas.microsoft.com/office/drawing/2014/main" id="{696A9715-605A-4F3C-9ABC-3A1152A6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0" y="2343150"/>
            <a:ext cx="2305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0001">
            <a:solidFill>
              <a:srgbClr val="CC766F"/>
            </a:solidFill>
            <a:prstDash val="solid"/>
          </a:ln>
        </p:spPr>
      </p:sp>
      <p:sp>
        <p:nvSpPr>
          <p:cNvPr id="133" name="output-phonescene-title">
            <a:extLst xmlns:a="http://schemas.openxmlformats.org/drawingml/2006/main">
              <a:ext uri="{FF2B5EF4-FFF2-40B4-BE49-F238E27FC236}">
                <a16:creationId xmlns:a16="http://schemas.microsoft.com/office/drawing/2014/main" id="{FA9D7C20-0C60-4D6D-8464-442D542F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2419350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9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9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.phonescene</a:t>
            </a:r>
          </a:p>
        </p:txBody>
      </p:sp>
      <p:sp>
        <p:nvSpPr>
          <p:cNvPr id="134" name="output-phonescene-body">
            <a:extLst xmlns:a="http://schemas.openxmlformats.org/drawingml/2006/main">
              <a:ext uri="{FF2B5EF4-FFF2-40B4-BE49-F238E27FC236}">
                <a16:creationId xmlns:a16="http://schemas.microsoft.com/office/drawing/2014/main" id="{11EA32CE-F7F0-4F23-BBED-8A88CE54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0" y="2752725"/>
            <a:ext cx="2114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direct open capture package</a:t>
            </a:r>
          </a:p>
        </p:txBody>
      </p:sp>
      <p:sp>
        <p:nvSpPr>
          <p:cNvPr id="135" name="output-gt-box">
            <a:extLst xmlns:a="http://schemas.openxmlformats.org/drawingml/2006/main">
              <a:ext uri="{FF2B5EF4-FFF2-40B4-BE49-F238E27FC236}">
                <a16:creationId xmlns:a16="http://schemas.microsoft.com/office/drawing/2014/main" id="{DB171F69-E6D8-4167-8865-E852DDDC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0200" y="2343150"/>
            <a:ext cx="2305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0001">
            <a:solidFill>
              <a:srgbClr val="CC766F"/>
            </a:solidFill>
            <a:prstDash val="solid"/>
          </a:ln>
        </p:spPr>
      </p:sp>
      <p:sp>
        <p:nvSpPr>
          <p:cNvPr id="136" name="output-gt-title">
            <a:extLst xmlns:a="http://schemas.openxmlformats.org/drawingml/2006/main">
              <a:ext uri="{FF2B5EF4-FFF2-40B4-BE49-F238E27FC236}">
                <a16:creationId xmlns:a16="http://schemas.microsoft.com/office/drawing/2014/main" id="{3B042063-B81D-459F-B440-1C1506B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6400" y="2419350"/>
            <a:ext cx="21526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gt_rooms.json</a:t>
            </a:r>
          </a:p>
        </p:txBody>
      </p:sp>
      <p:sp>
        <p:nvSpPr>
          <p:cNvPr id="137" name="output-gt-body">
            <a:extLst xmlns:a="http://schemas.openxmlformats.org/drawingml/2006/main">
              <a:ext uri="{FF2B5EF4-FFF2-40B4-BE49-F238E27FC236}">
                <a16:creationId xmlns:a16="http://schemas.microsoft.com/office/drawing/2014/main" id="{07112814-6F9F-429A-A508-60BC0B3E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0" y="2752725"/>
            <a:ext cx="21145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world polygons and z bands</a:t>
            </a:r>
          </a:p>
        </p:txBody>
      </p:sp>
      <p:sp>
        <p:nvSpPr>
          <p:cNvPr id="138" name="output-usd-box">
            <a:extLst xmlns:a="http://schemas.openxmlformats.org/drawingml/2006/main">
              <a:ext uri="{FF2B5EF4-FFF2-40B4-BE49-F238E27FC236}">
                <a16:creationId xmlns:a16="http://schemas.microsoft.com/office/drawing/2014/main" id="{0E377F6C-E7BE-430B-9428-8ADC4E6E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0" y="4095750"/>
            <a:ext cx="487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0001">
            <a:solidFill>
              <a:srgbClr val="CC766F"/>
            </a:solidFill>
            <a:prstDash val="solid"/>
          </a:ln>
        </p:spPr>
      </p:sp>
      <p:sp>
        <p:nvSpPr>
          <p:cNvPr id="139" name="output-usd-title">
            <a:extLst xmlns:a="http://schemas.openxmlformats.org/drawingml/2006/main">
              <a:ext uri="{FF2B5EF4-FFF2-40B4-BE49-F238E27FC236}">
                <a16:creationId xmlns:a16="http://schemas.microsoft.com/office/drawing/2014/main" id="{2E2BC5CF-EC8D-4064-A9F9-8BB96751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4171950"/>
            <a:ext cx="4724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9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9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scene.usd(a)</a:t>
            </a:r>
          </a:p>
        </p:txBody>
      </p:sp>
      <p:sp>
        <p:nvSpPr>
          <p:cNvPr id="140" name="output-usd-body">
            <a:extLst xmlns:a="http://schemas.openxmlformats.org/drawingml/2006/main">
              <a:ext uri="{FF2B5EF4-FFF2-40B4-BE49-F238E27FC236}">
                <a16:creationId xmlns:a16="http://schemas.microsoft.com/office/drawing/2014/main" id="{36E95D53-8BEC-4559-A95F-C904AB3B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0" y="4505325"/>
            <a:ext cx="4686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metric 3D scene asset</a:t>
            </a:r>
          </a:p>
        </p:txBody>
      </p:sp>
      <p:sp>
        <p:nvSpPr>
          <p:cNvPr id="141" name="output-render-box">
            <a:extLst xmlns:a="http://schemas.openxmlformats.org/drawingml/2006/main">
              <a:ext uri="{FF2B5EF4-FFF2-40B4-BE49-F238E27FC236}">
                <a16:creationId xmlns:a16="http://schemas.microsoft.com/office/drawing/2014/main" id="{07A48032-464B-40D9-B67D-8720D63D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0" y="5048250"/>
            <a:ext cx="48768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10001">
            <a:solidFill>
              <a:srgbClr val="CC766F"/>
            </a:solidFill>
            <a:prstDash val="solid"/>
          </a:ln>
        </p:spPr>
      </p:sp>
      <p:sp>
        <p:nvSpPr>
          <p:cNvPr id="142" name="output-render-title">
            <a:extLst xmlns:a="http://schemas.openxmlformats.org/drawingml/2006/main">
              <a:ext uri="{FF2B5EF4-FFF2-40B4-BE49-F238E27FC236}">
                <a16:creationId xmlns:a16="http://schemas.microsoft.com/office/drawing/2014/main" id="{53B3B344-F1B0-4194-A5AA-93D3FD7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4650" y="5124450"/>
            <a:ext cx="47244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b"/>
          <a:lstStyle xmlns:a="http://schemas.openxmlformats.org/drawingml/2006/main"/>
          <a:p xmlns:a="http://schemas.openxmlformats.org/drawingml/2006/main">
            <a:pPr algn="ctr">
              <a:defRPr sz="1373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373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render package</a:t>
            </a:r>
          </a:p>
        </p:txBody>
      </p:sp>
      <p:sp>
        <p:nvSpPr>
          <p:cNvPr id="143" name="output-render-body">
            <a:extLst xmlns:a="http://schemas.openxmlformats.org/drawingml/2006/main">
              <a:ext uri="{FF2B5EF4-FFF2-40B4-BE49-F238E27FC236}">
                <a16:creationId xmlns:a16="http://schemas.microsoft.com/office/drawing/2014/main" id="{AE5706D2-BCA9-45CB-A6B0-5573C91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0" y="5457825"/>
            <a:ext cx="4686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ctr">
              <a:defRPr sz="915" b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15" b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metadata, RGB, depth, pose</a:t>
            </a:r>
          </a:p>
        </p:txBody>
      </p:sp>
      <p:sp>
        <p:nvSpPr>
          <p:cNvPr id="144" name="output-topic-contract-box">
            <a:extLst xmlns:a="http://schemas.openxmlformats.org/drawingml/2006/main">
              <a:ext uri="{FF2B5EF4-FFF2-40B4-BE49-F238E27FC236}">
                <a16:creationId xmlns:a16="http://schemas.microsoft.com/office/drawing/2014/main" id="{9181BA5F-A49D-4B5B-8391-2F46592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0" y="6115050"/>
            <a:ext cx="48768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8F7"/>
          </a:solidFill>
          <a:ln xmlns:a="http://schemas.openxmlformats.org/drawingml/2006/main" w="11906">
            <a:solidFill>
              <a:srgbClr val="CC766F"/>
            </a:solidFill>
            <a:prstDash val="solid"/>
          </a:ln>
        </p:spPr>
      </p:sp>
      <p:sp>
        <p:nvSpPr>
          <p:cNvPr id="145" name="output-topic-contract-title">
            <a:extLst xmlns:a="http://schemas.openxmlformats.org/drawingml/2006/main">
              <a:ext uri="{FF2B5EF4-FFF2-40B4-BE49-F238E27FC236}">
                <a16:creationId xmlns:a16="http://schemas.microsoft.com/office/drawing/2014/main" id="{BC3B7F27-1FA4-4581-877D-B5447357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49900" y="6276975"/>
            <a:ext cx="453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F4B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F4B43"/>
                </a:solidFill>
                <a:latin typeface="Arial"/>
                <a:ea typeface="Arial"/>
                <a:cs typeface="Arial"/>
              </a:rPr>
              <a:t>ROS2 Bag Topic Contract</a:t>
            </a:r>
          </a:p>
        </p:txBody>
      </p:sp>
      <p:sp>
        <p:nvSpPr>
          <p:cNvPr id="146" name="output-topic-contract-list">
            <a:extLst xmlns:a="http://schemas.openxmlformats.org/drawingml/2006/main">
              <a:ext uri="{FF2B5EF4-FFF2-40B4-BE49-F238E27FC236}">
                <a16:creationId xmlns:a16="http://schemas.microsoft.com/office/drawing/2014/main" id="{C425459F-CAA9-4A79-891D-22CC39E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0" y="6629400"/>
            <a:ext cx="4286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/tesse/left_cam/rgb/image_raw</a:t>
            </a:r>
          </a:p>
          <a:p xmlns:a="http://schemas.openxmlformats.org/drawingml/2006/main">
            <a:pPr algn="l">
              <a:def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/tesse/left_cam/camera_info</a:t>
            </a:r>
          </a:p>
          <a:p xmlns:a="http://schemas.openxmlformats.org/drawingml/2006/main">
            <a:pPr algn="l">
              <a:def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/tesse/depth_cam/mono/image_raw</a:t>
            </a:r>
          </a:p>
          <a:p xmlns:a="http://schemas.openxmlformats.org/drawingml/2006/main">
            <a:pPr algn="l">
              <a:def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/tesse/seg_cam/converted/image_raw</a:t>
            </a:r>
          </a:p>
          <a:p xmlns:a="http://schemas.openxmlformats.org/drawingml/2006/main">
            <a:pPr algn="l">
              <a:def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defRPr>
            </a:pPr>
            <a:r>
              <a:rPr sz="960" b="0">
                <a:solidFill>
                  <a:srgbClr val="1F2937"/>
                </a:solidFill>
                <a:latin typeface="Courier New"/>
                <a:ea typeface="Courier New"/>
                <a:cs typeface="Courier New"/>
              </a:rPr>
              <a:t>/tf, /tf_static</a:t>
            </a:r>
          </a:p>
        </p:txBody>
      </p:sp>
      <p:sp>
        <p:nvSpPr>
          <p:cNvPr id="147" name="output-bottom-note-box">
            <a:extLst xmlns:a="http://schemas.openxmlformats.org/drawingml/2006/main">
              <a:ext uri="{FF2B5EF4-FFF2-40B4-BE49-F238E27FC236}">
                <a16:creationId xmlns:a16="http://schemas.microsoft.com/office/drawing/2014/main" id="{DE1EEFEF-B577-48DD-BCBC-914E6007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0" y="8153400"/>
            <a:ext cx="4876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EF"/>
          </a:solidFill>
          <a:ln xmlns:a="http://schemas.openxmlformats.org/drawingml/2006/main" w="8573">
            <a:solidFill>
              <a:srgbClr val="CC766F"/>
            </a:solidFill>
            <a:prstDash val="solid"/>
          </a:ln>
        </p:spPr>
      </p:sp>
      <p:sp>
        <p:nvSpPr>
          <p:cNvPr id="148" name="output-bottom-note">
            <a:extLst xmlns:a="http://schemas.openxmlformats.org/drawingml/2006/main">
              <a:ext uri="{FF2B5EF4-FFF2-40B4-BE49-F238E27FC236}">
                <a16:creationId xmlns:a16="http://schemas.microsoft.com/office/drawing/2014/main" id="{F029793F-4E00-4272-A1FD-3EF72479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0" y="8248650"/>
            <a:ext cx="4419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D302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D302B"/>
                </a:solidFill>
                <a:latin typeface="Arial"/>
                <a:ea typeface="Arial"/>
                <a:cs typeface="Arial"/>
              </a:rPr>
              <a:t>All outputs are documented and reusable beyond any particular experiment or downstream method.</a:t>
            </a:r>
          </a:p>
        </p:txBody>
      </p:sp>
      <p:sp>
        <p:nvSpPr>
          <p:cNvPr id="149" name="route-mesh-to-usd-pt-1">
            <a:extLst xmlns:a="http://schemas.openxmlformats.org/drawingml/2006/main">
              <a:ext uri="{FF2B5EF4-FFF2-40B4-BE49-F238E27FC236}">
                <a16:creationId xmlns:a16="http://schemas.microsoft.com/office/drawing/2014/main" id="{D358647C-5B72-4D1E-9714-25A1B37A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5362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route-mesh-to-usd-pt-2">
            <a:extLst xmlns:a="http://schemas.openxmlformats.org/drawingml/2006/main">
              <a:ext uri="{FF2B5EF4-FFF2-40B4-BE49-F238E27FC236}">
                <a16:creationId xmlns:a16="http://schemas.microsoft.com/office/drawing/2014/main" id="{29C08D09-2421-4466-9F3E-AA89B380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5362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route-mesh-to-usd-pt-3">
            <a:extLst xmlns:a="http://schemas.openxmlformats.org/drawingml/2006/main">
              <a:ext uri="{FF2B5EF4-FFF2-40B4-BE49-F238E27FC236}">
                <a16:creationId xmlns:a16="http://schemas.microsoft.com/office/drawing/2014/main" id="{8E037DDA-6307-40A2-808A-D0AA0C09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4714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route-mesh-to-usd-pt-4">
            <a:extLst xmlns:a="http://schemas.openxmlformats.org/drawingml/2006/main">
              <a:ext uri="{FF2B5EF4-FFF2-40B4-BE49-F238E27FC236}">
                <a16:creationId xmlns:a16="http://schemas.microsoft.com/office/drawing/2014/main" id="{D4A016C8-FC22-4A23-A082-C6416DB9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4714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route-mesh-to-usd-pt-5">
            <a:extLst xmlns:a="http://schemas.openxmlformats.org/drawingml/2006/main">
              <a:ext uri="{FF2B5EF4-FFF2-40B4-BE49-F238E27FC236}">
                <a16:creationId xmlns:a16="http://schemas.microsoft.com/office/drawing/2014/main" id="{09360F4D-9B17-4FAB-BBFE-1D3A67D8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4438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route-mesh-to-usd-pt-6">
            <a:extLst xmlns:a="http://schemas.openxmlformats.org/drawingml/2006/main">
              <a:ext uri="{FF2B5EF4-FFF2-40B4-BE49-F238E27FC236}">
                <a16:creationId xmlns:a16="http://schemas.microsoft.com/office/drawing/2014/main" id="{D8F7511D-FEFB-4A9D-8A8D-D88ECF6E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4438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55" name="route-mesh-to-usd-seg-1"/>
          <p:cNvCxnSpPr>
            <a:stCxn xmlns:a="http://schemas.openxmlformats.org/drawingml/2006/main" id="149" idx="0"/>
            <a:endCxn xmlns:a="http://schemas.openxmlformats.org/drawingml/2006/main" id="150" idx="0"/>
          </p:cNvCxnSpPr>
          <p:nvPr/>
        </p:nvCxnSpPr>
        <p:spPr>
          <a:xfrm xmlns:a="http://schemas.openxmlformats.org/drawingml/2006/main">
            <a:off x="14725650" y="5362575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56" name="route-mesh-to-usd-seg-2"/>
          <p:cNvCxnSpPr>
            <a:stCxn xmlns:a="http://schemas.openxmlformats.org/drawingml/2006/main" id="150" idx="0"/>
            <a:endCxn xmlns:a="http://schemas.openxmlformats.org/drawingml/2006/main" id="151" idx="2"/>
          </p:cNvCxnSpPr>
          <p:nvPr/>
        </p:nvCxnSpPr>
        <p:spPr>
          <a:xfrm xmlns:a="http://schemas.openxmlformats.org/drawingml/2006/main" flipV="1">
            <a:off x="14763750" y="47720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57" name="route-mesh-to-usd-seg-3"/>
          <p:cNvCxnSpPr>
            <a:stCxn xmlns:a="http://schemas.openxmlformats.org/drawingml/2006/main" id="151" idx="3"/>
            <a:endCxn xmlns:a="http://schemas.openxmlformats.org/drawingml/2006/main" id="152" idx="1"/>
          </p:cNvCxnSpPr>
          <p:nvPr/>
        </p:nvCxnSpPr>
        <p:spPr>
          <a:xfrm xmlns:a="http://schemas.openxmlformats.org/drawingml/2006/main">
            <a:off x="14792325" y="4743450"/>
            <a:ext cx="312420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58" name="route-mesh-to-usd-seg-4"/>
          <p:cNvCxnSpPr>
            <a:stCxn xmlns:a="http://schemas.openxmlformats.org/drawingml/2006/main" id="152" idx="0"/>
            <a:endCxn xmlns:a="http://schemas.openxmlformats.org/drawingml/2006/main" id="153" idx="2"/>
          </p:cNvCxnSpPr>
          <p:nvPr/>
        </p:nvCxnSpPr>
        <p:spPr>
          <a:xfrm xmlns:a="http://schemas.openxmlformats.org/drawingml/2006/main" flipV="1">
            <a:off x="17945100" y="4495800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59" name="route-mesh-to-usd-seg-5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17973675" y="446722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  <a:headEnd type="none" w="med" len="med"/>
          </a:ln>
        </p:spPr>
      </p:cxnSp>
      <p:sp>
        <p:nvSpPr>
          <p:cNvPr id="160" name="route-mesh-to-usd-head">
            <a:extLst xmlns:a="http://schemas.openxmlformats.org/drawingml/2006/main">
              <a:ext uri="{FF2B5EF4-FFF2-40B4-BE49-F238E27FC236}">
                <a16:creationId xmlns:a16="http://schemas.microsoft.com/office/drawing/2014/main" id="{27E20FA7-1DDF-4EEF-A045-D2841691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040350" y="44291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61" name="route-isaac-to-render-pt-1">
            <a:extLst xmlns:a="http://schemas.openxmlformats.org/drawingml/2006/main">
              <a:ext uri="{FF2B5EF4-FFF2-40B4-BE49-F238E27FC236}">
                <a16:creationId xmlns:a16="http://schemas.microsoft.com/office/drawing/2014/main" id="{15FADF65-8FB5-431B-A50E-8E8C7E37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7400" y="5391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route-isaac-to-render-pt-2">
            <a:extLst xmlns:a="http://schemas.openxmlformats.org/drawingml/2006/main">
              <a:ext uri="{FF2B5EF4-FFF2-40B4-BE49-F238E27FC236}">
                <a16:creationId xmlns:a16="http://schemas.microsoft.com/office/drawing/2014/main" id="{3B33BCC5-3672-499A-9FFA-2F47BBFE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5391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63" name="route-isaac-to-render-seg-1"/>
          <p:cNvCxnSpPr>
            <a:stCxn xmlns:a="http://schemas.openxmlformats.org/drawingml/2006/main" id="161" idx="3"/>
            <a:endCxn xmlns:a="http://schemas.openxmlformats.org/drawingml/2006/main" id="162" idx="1"/>
          </p:cNvCxnSpPr>
          <p:nvPr/>
        </p:nvCxnSpPr>
        <p:spPr>
          <a:xfrm xmlns:a="http://schemas.openxmlformats.org/drawingml/2006/main">
            <a:off x="17354550" y="5419725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  <a:headEnd type="none" w="med" len="med"/>
          </a:ln>
        </p:spPr>
      </p:cxnSp>
      <p:sp>
        <p:nvSpPr>
          <p:cNvPr id="164" name="route-isaac-to-render-head">
            <a:extLst xmlns:a="http://schemas.openxmlformats.org/drawingml/2006/main">
              <a:ext uri="{FF2B5EF4-FFF2-40B4-BE49-F238E27FC236}">
                <a16:creationId xmlns:a16="http://schemas.microsoft.com/office/drawing/2014/main" id="{44829BEB-BDD6-4E55-8D52-E9976CE1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040350" y="53816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  <p:sp>
        <p:nvSpPr>
          <p:cNvPr id="165" name="route-rosbag-to-contract-pt-1">
            <a:extLst xmlns:a="http://schemas.openxmlformats.org/drawingml/2006/main">
              <a:ext uri="{FF2B5EF4-FFF2-40B4-BE49-F238E27FC236}">
                <a16:creationId xmlns:a16="http://schemas.microsoft.com/office/drawing/2014/main" id="{3AB90F6B-2F1E-475F-961C-FAEFE2FF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675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route-rosbag-to-contract-pt-2">
            <a:extLst xmlns:a="http://schemas.openxmlformats.org/drawingml/2006/main">
              <a:ext uri="{FF2B5EF4-FFF2-40B4-BE49-F238E27FC236}">
                <a16:creationId xmlns:a16="http://schemas.microsoft.com/office/drawing/2014/main" id="{3E9FB8DD-58F1-4A58-A2B9-035D46C3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6753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route-rosbag-to-contract-pt-3">
            <a:extLst xmlns:a="http://schemas.openxmlformats.org/drawingml/2006/main">
              <a:ext uri="{FF2B5EF4-FFF2-40B4-BE49-F238E27FC236}">
                <a16:creationId xmlns:a16="http://schemas.microsoft.com/office/drawing/2014/main" id="{F9E716C2-92D6-4519-9AD6-2E914F0A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5175" y="754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route-rosbag-to-contract-pt-4">
            <a:extLst xmlns:a="http://schemas.openxmlformats.org/drawingml/2006/main">
              <a:ext uri="{FF2B5EF4-FFF2-40B4-BE49-F238E27FC236}">
                <a16:creationId xmlns:a16="http://schemas.microsoft.com/office/drawing/2014/main" id="{8C3E04D4-52F9-412D-A858-57B5114F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754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route-rosbag-to-contract-pt-5">
            <a:extLst xmlns:a="http://schemas.openxmlformats.org/drawingml/2006/main">
              <a:ext uri="{FF2B5EF4-FFF2-40B4-BE49-F238E27FC236}">
                <a16:creationId xmlns:a16="http://schemas.microsoft.com/office/drawing/2014/main" id="{262DB268-AD78-49ED-B281-81AF2099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16525" y="698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route-rosbag-to-contract-pt-6">
            <a:extLst xmlns:a="http://schemas.openxmlformats.org/drawingml/2006/main">
              <a:ext uri="{FF2B5EF4-FFF2-40B4-BE49-F238E27FC236}">
                <a16:creationId xmlns:a16="http://schemas.microsoft.com/office/drawing/2014/main" id="{B977BFD3-5027-4AE7-8395-1923B56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75" y="698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71" name="route-rosbag-to-contract-seg-1"/>
          <p:cNvCxnSpPr>
            <a:stCxn xmlns:a="http://schemas.openxmlformats.org/drawingml/2006/main" id="165" idx="0"/>
            <a:endCxn xmlns:a="http://schemas.openxmlformats.org/drawingml/2006/main" id="166" idx="0"/>
          </p:cNvCxnSpPr>
          <p:nvPr/>
        </p:nvCxnSpPr>
        <p:spPr>
          <a:xfrm xmlns:a="http://schemas.openxmlformats.org/drawingml/2006/main">
            <a:off x="14725650" y="6753225"/>
            <a:ext cx="3810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72" name="route-rosbag-to-contract-seg-2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14763750" y="6810375"/>
            <a:ext cx="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73" name="route-rosbag-to-contract-seg-3"/>
          <p:cNvCxnSpPr>
            <a:stCxn xmlns:a="http://schemas.openxmlformats.org/drawingml/2006/main" id="167" idx="3"/>
            <a:endCxn xmlns:a="http://schemas.openxmlformats.org/drawingml/2006/main" id="168" idx="1"/>
          </p:cNvCxnSpPr>
          <p:nvPr/>
        </p:nvCxnSpPr>
        <p:spPr>
          <a:xfrm xmlns:a="http://schemas.openxmlformats.org/drawingml/2006/main">
            <a:off x="14792325" y="7572375"/>
            <a:ext cx="312420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74" name="route-rosbag-to-contract-seg-4"/>
          <p:cNvCxnSpPr>
            <a:stCxn xmlns:a="http://schemas.openxmlformats.org/drawingml/2006/main" id="168" idx="0"/>
            <a:endCxn xmlns:a="http://schemas.openxmlformats.org/drawingml/2006/main" id="169" idx="2"/>
          </p:cNvCxnSpPr>
          <p:nvPr/>
        </p:nvCxnSpPr>
        <p:spPr>
          <a:xfrm xmlns:a="http://schemas.openxmlformats.org/drawingml/2006/main" flipV="1">
            <a:off x="17945100" y="7038975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</a:ln>
        </p:spPr>
      </p:cxnSp>
      <p:cxnSp>
        <p:nvCxnSpPr>
          <p:cNvPr id="175" name="route-rosbag-to-contract-seg-5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17973675" y="701040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2F7F4F"/>
            </a:solidFill>
            <a:prstDash val="solid"/>
            <a:headEnd type="none" w="med" len="med"/>
          </a:ln>
        </p:spPr>
      </p:cxnSp>
      <p:sp>
        <p:nvSpPr>
          <p:cNvPr id="176" name="route-rosbag-to-contract-head">
            <a:extLst xmlns:a="http://schemas.openxmlformats.org/drawingml/2006/main">
              <a:ext uri="{FF2B5EF4-FFF2-40B4-BE49-F238E27FC236}">
                <a16:creationId xmlns:a16="http://schemas.microsoft.com/office/drawing/2014/main" id="{AD76CB09-0B30-469F-89C1-1A17606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040350" y="6972300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7F4F"/>
          </a:solidFill>
          <a:ln xmlns:a="http://schemas.openxmlformats.org/drawingml/2006/main" w="0">
            <a:solidFill>
              <a:srgbClr val="2F7F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1165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2026-05-28T14:01:57.6610000Z</dcterms:created>
  <dcterms:modified xsi:type="dcterms:W3CDTF">2026-05-28T14:01:57.6610000Z</dcterms:modified>
</coreProperties>
</file>